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BuyaLater adalah aplikasi koperasi simpan pinjam digital khusus anggota. Dua layar di kanan adalah layar sambutan dan beranda pada tampilan HP. Aplikasi berjalan sebagai situs web responsif dan dibungkus Capacitor menjadi aplikasi Android dan 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Banyak orang terjerat pinjaman online yang biayanya tidak jelas dan penagihannya menekan, sementara koperasi tradisional masih mencatat manual. BuyaLater menggabungkan keduanya: koperasi milik anggota dengan proses digital yang transparan dan penagihan beretika.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tiga kelompok pengguna. Pengurus dibagi menjadi Admin, Manajer, dan Teller dengan hak berbeda (pemisahan tugas). Peran yang tidak berhak atas sebuah halaman mendapat tampilan 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untuk penguji. Satu halaman login dipakai semua peran; sistem mengarahkan ke portal anggota atau panel admin sesuai peran akun. Email berfungsi sebagai username login. Seluruh akun di tabel adalah data dummy dari seed. Peran yang membuka halaman bukan haknya mendapat tampilan 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Beranda memuat data langsung dari database. Ada bagian BuyaLater Bukan Pinjol yang menegaskan koperasi ini hanya untuk anggota. Seluruh konten publik dapat dikelola admin tanpa mengubah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Kalkulator memakai pengaturan koperasi yang berlaku. Perhitungan dilakukan di server dengan tipe Decimal agar akurat. Anggota melihat Ringkasan Biaya yang sama persis sebelum menyetujui akad.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Pendaftaran meminta foto KTP dan tiga persetujuan data yang berdiri sendiri. Login memakai pembatas percobaan gagal. Login Google dan Apple opsional dan hanya mencocokkan email anggota yang sudah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login anggota langsung melihat saldo simpanan per jenis. NIK disamarkan. Kartu Privasi Akun memungkinkan unduh seluruh data dalam JSON dan pengajuan penutupan akun.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Kelayakan dicek otomatis dan diperiksa ulang di server. Setelah disetujui Manajer, anggota menyetujui akad digital. Salinan akad, IP, dan perangkat tersimpan; akad dapat diunduh sebagai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menampilkan statistik dan kesehatan koperasi: rasio pokok pinjaman beredar terhadap total simpanan dan rasio pinjaman bermasalah. Bila rasio melewati 90%, persetujuan pinjaman baru hanya boleh dilakukan Manajer.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Enam langkah dari pengajuan sampai lunas, masing-masing dipegang peran berbeda sehingga tidak ada satu orang yang bisa menyetujui dan mencairkan sendiri. Semua perubahan status tercatat di audit log bersama user dan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ini membantu penguji memilih akun sesuai skenario yang ingin dicoba: tunggakan, pembayaran sebagian, verifikasi, persetujuan, dan pencairan. Seluruh tanggal data contoh dibuat relatif terhadap hari ini sehingga selalu terlihat 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Pembeda utama dari pinjol. Sistem menolak mengirim pengingat di luar jam dan hari yang diizinkan, membatasi satu pengingat per anggota per hari, dan tidak punya kolom kontak darurat. Denda 0,05% per hari dihitung dari angsuran yang telat setelah masa tenggang 3 hari.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Pengaturan koperasi tidak bisa melewati batas regulasi. Bunga flat 12% ditolak karena bunga efektifnya (termasuk biaya admin) sekitar 26,9% per tahun, di atas batas 24%. Validasi dilakukan di server dan perubahannya tercatat di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Anggota punya jalur resmi untuk mengadu dan melaporkan penagihan yang tidak pantas. Pengurus menanggapi lewat halaman admin Pengaduan, statusnya terlihat oleh anggota. Data pribadi dapat diunduh dan akun dapat ditutup.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dibuat berlapis: akses, peran, perlindungan berkas, sampai jejak audit. Uang dihitung dengan Decimal dan setiap proses uang memakai transaksi atomik sehingga klik ganda tidak menggandakan transaksi.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Android dan iOS adalah bungkus Capacitor di atas web yang sama. Izin perangkat dibatasi hanya internet dan kamera untuk foto KTP, dijaga tes otomatis. Aplikasi sudah dijalankan di simulator iPhone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Tumpukan teknologi: Next.js 16 dengan App Router, Server Actions dengan validasi Zod, NextAuth untuk autentikasi, Prisma sebagai ORM, dan MariaDB/MySQL untuk data. Capacitor membungkus web menjadi aplikasi Android dan 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aplikasi memiliki 79 halaman, 40 tabel, dan 61 tes otomatis, dikerjakan dalam 14 tahap. Rencana berikutnya mencakup ekspor laporan, login Google di dalam aplikasi, tes tambahan, penjadwalan terpisah, dan tinjauan hukum.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LAP">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6217920" cy="1371600"/>
          </a:xfrm>
          <a:prstGeom prst="rect">
            <a:avLst/>
          </a:prstGeom>
          <a:noFill/>
          <a:ln/>
        </p:spPr>
        <p:txBody>
          <a:bodyPr wrap="square" rtlCol="0"/>
          <a:lstStyle>
            <a:lvl1pPr algn="l" indent="0" marL="0">
              <a:buNone/>
              <a:defRPr lang="en-US" sz="6400" b="1" dirty="0">
                <a:solidFill>
                  <a:schemeClr val="bg1"/>
                </a:solidFill>
              </a:defRPr>
            </a:lvl1pPr>
          </a:lstStyle>
          <a:p>
            <a:pPr algn="l" indent="0" marL="0">
              <a:buNone/>
            </a:pPr>
            <a:endParaRPr lang="en-US" sz="6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LAP-JUDU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868680"/>
            <a:ext cx="1051560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RANG">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777240"/>
            <a:ext cx="1051560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txBox="1"/>
          <p:nvPr/>
        </p:nvSpPr>
        <p:spPr>
          <a:xfrm>
            <a:off x="82296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BuyaLater  ·  Koperasi Simpan Pinjam Digital untuk Anggota</a:t>
            </a:r>
            <a:endParaRPr lang="en-US" sz="10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4.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abel bagian"/>
          <p:cNvSpPr txBox="1"/>
          <p:nvPr/>
        </p:nvSpPr>
        <p:spPr>
          <a:xfrm>
            <a:off x="822960" y="548640"/>
            <a:ext cx="7315200" cy="274320"/>
          </a:xfrm>
          <a:prstGeom prst="rect">
            <a:avLst/>
          </a:prstGeom>
          <a:noFill/>
          <a:ln/>
        </p:spPr>
        <p:txBody>
          <a:bodyPr wrap="square" lIns="0" tIns="0" rIns="0" bIns="0" rtlCol="0" anchor="ctr"/>
          <a:lstStyle/>
          <a:p>
            <a:pPr indent="0" marL="0">
              <a:buNone/>
            </a:pPr>
            <a:r>
              <a:rPr lang="en-US" sz="1200" b="1" spc="500" kern="0" dirty="0">
                <a:solidFill>
                  <a:srgbClr val="E3C77A"/>
                </a:solidFill>
              </a:rPr>
              <a:t>PRESENTASI APLIKASI</a:t>
            </a:r>
            <a:endParaRPr lang="en-US" sz="1200" dirty="0"/>
          </a:p>
        </p:txBody>
      </p:sp>
      <p:sp>
        <p:nvSpPr>
          <p:cNvPr id="3" name="Text 0"/>
          <p:cNvSpPr/>
          <p:nvPr>
            <p:ph idx="100" type="title" hasCustomPrompt="1"/>
          </p:nvPr>
        </p:nvSpPr>
        <p:spPr>
          <a:xfrm>
            <a:off x="822960" y="2103120"/>
            <a:ext cx="6217920" cy="1371600"/>
          </a:xfrm>
          <a:prstGeom prst="rect">
            <a:avLst/>
          </a:prstGeom>
          <a:noFill/>
          <a:ln/>
        </p:spPr>
        <p:txBody>
          <a:bodyPr wrap="square" lIns="0" tIns="0" rIns="0" bIns="0" rtlCol="0" anchor="ctr"/>
          <a:lstStyle/>
          <a:p>
            <a:pPr algn="l" indent="0" marL="0">
              <a:buNone/>
            </a:pPr>
            <a:r>
              <a:rPr lang="en-US" sz="6400" b="1" dirty="0">
                <a:solidFill>
                  <a:schemeClr val="bg1"/>
                </a:solidFill>
              </a:rPr>
              <a:t>Buya</a:t>
            </a:r>
            <a:pPr algn="l" indent="0" marL="0">
              <a:buNone/>
            </a:pPr>
            <a:r>
              <a:rPr lang="en-US" sz="6400" b="1" dirty="0">
                <a:solidFill>
                  <a:srgbClr val="E3C77A"/>
                </a:solidFill>
              </a:rPr>
              <a:t>Later</a:t>
            </a:r>
            <a:endParaRPr lang="en-US" sz="6400" dirty="0"/>
          </a:p>
        </p:txBody>
      </p:sp>
      <p:sp>
        <p:nvSpPr>
          <p:cNvPr id="4" name="Subjudul"/>
          <p:cNvSpPr txBox="1"/>
          <p:nvPr/>
        </p:nvSpPr>
        <p:spPr>
          <a:xfrm>
            <a:off x="822960" y="3611880"/>
            <a:ext cx="6035040" cy="822960"/>
          </a:xfrm>
          <a:prstGeom prst="rect">
            <a:avLst/>
          </a:prstGeom>
          <a:noFill/>
          <a:ln/>
        </p:spPr>
        <p:txBody>
          <a:bodyPr wrap="square" lIns="0" tIns="0" rIns="0" bIns="0" rtlCol="0" anchor="t"/>
          <a:lstStyle/>
          <a:p>
            <a:pPr indent="0" marL="0">
              <a:buNone/>
            </a:pPr>
            <a:r>
              <a:rPr lang="en-US" sz="2400" dirty="0">
                <a:solidFill>
                  <a:srgbClr val="CADCFC"/>
                </a:solidFill>
              </a:rPr>
              <a:t>Koperasi Simpan Pinjam Digital untuk Anggota</a:t>
            </a:r>
            <a:endParaRPr lang="en-US" sz="2400" dirty="0"/>
          </a:p>
        </p:txBody>
      </p:sp>
      <p:sp>
        <p:nvSpPr>
          <p:cNvPr id="5" name="Keterangan sampul"/>
          <p:cNvSpPr txBox="1"/>
          <p:nvPr/>
        </p:nvSpPr>
        <p:spPr>
          <a:xfrm>
            <a:off x="822960" y="4846320"/>
            <a:ext cx="6035040" cy="365760"/>
          </a:xfrm>
          <a:prstGeom prst="rect">
            <a:avLst/>
          </a:prstGeom>
          <a:noFill/>
          <a:ln/>
        </p:spPr>
        <p:txBody>
          <a:bodyPr wrap="square" lIns="0" tIns="0" rIns="0" bIns="0" rtlCol="0" anchor="t"/>
          <a:lstStyle/>
          <a:p>
            <a:pPr indent="0" marL="0">
              <a:buNone/>
            </a:pPr>
            <a:r>
              <a:rPr lang="en-US" sz="1400" dirty="0">
                <a:solidFill>
                  <a:srgbClr val="94A3B8"/>
                </a:solidFill>
              </a:rPr>
              <a:t>Tampilan antarmuka dan penjelasan fitur  ·  Oktober 2026</a:t>
            </a:r>
            <a:endParaRPr lang="en-US" sz="1400" dirty="0"/>
          </a:p>
        </p:txBody>
      </p:sp>
      <p:sp>
        <p:nvSpPr>
          <p:cNvPr id="6" name="Bingkai HP layar sambutan"/>
          <p:cNvSpPr/>
          <p:nvPr/>
        </p:nvSpPr>
        <p:spPr>
          <a:xfrm>
            <a:off x="7589520" y="822960"/>
            <a:ext cx="2435108" cy="5120640"/>
          </a:xfrm>
          <a:prstGeom prst="roundRect">
            <a:avLst>
              <a:gd name="adj" fmla="val 8261"/>
            </a:avLst>
          </a:prstGeom>
          <a:solidFill>
            <a:srgbClr val="0B1437"/>
          </a:solidFill>
          <a:ln w="12700">
            <a:solidFill>
              <a:srgbClr val="334155"/>
            </a:solidFill>
            <a:prstDash val="solid"/>
          </a:ln>
          <a:effectLst>
            <a:outerShdw sx="100000" sy="100000" kx="0" ky="0" algn="bl" rotWithShape="0" blurRad="152400" dist="50800" dir="5400000">
              <a:srgbClr val="000000">
                <a:alpha val="30000"/>
              </a:srgbClr>
            </a:outerShdw>
          </a:effectLst>
        </p:spPr>
      </p:sp>
      <p:pic>
        <p:nvPicPr>
          <p:cNvPr id="7" name="Layar HP layar sambutan" descr="Tampilan HP: layar sambutan">    </p:cNvPr>
          <p:cNvPicPr>
            <a:picLocks noChangeAspect="1"/>
          </p:cNvPicPr>
          <p:nvPr/>
        </p:nvPicPr>
        <p:blipFill>
          <a:blip r:embed="rId1"/>
          <a:stretch>
            <a:fillRect/>
          </a:stretch>
        </p:blipFill>
        <p:spPr>
          <a:xfrm>
            <a:off x="7653528" y="886968"/>
            <a:ext cx="2307092" cy="4992624"/>
          </a:xfrm>
          <a:prstGeom prst="rect">
            <a:avLst/>
          </a:prstGeom>
        </p:spPr>
      </p:pic>
      <p:sp>
        <p:nvSpPr>
          <p:cNvPr id="8" name="Bingkai HP beranda"/>
          <p:cNvSpPr/>
          <p:nvPr/>
        </p:nvSpPr>
        <p:spPr>
          <a:xfrm>
            <a:off x="9829800" y="1371600"/>
            <a:ext cx="2435108" cy="5120640"/>
          </a:xfrm>
          <a:prstGeom prst="roundRect">
            <a:avLst>
              <a:gd name="adj" fmla="val 8261"/>
            </a:avLst>
          </a:prstGeom>
          <a:solidFill>
            <a:srgbClr val="0B1437"/>
          </a:solidFill>
          <a:ln w="12700">
            <a:solidFill>
              <a:srgbClr val="334155"/>
            </a:solidFill>
            <a:prstDash val="solid"/>
          </a:ln>
          <a:effectLst>
            <a:outerShdw sx="100000" sy="100000" kx="0" ky="0" algn="bl" rotWithShape="0" blurRad="152400" dist="50800" dir="5400000">
              <a:srgbClr val="000000">
                <a:alpha val="30000"/>
              </a:srgbClr>
            </a:outerShdw>
          </a:effectLst>
        </p:spPr>
      </p:sp>
      <p:pic>
        <p:nvPicPr>
          <p:cNvPr id="9" name="Layar HP beranda" descr="Tampilan HP: beranda">    </p:cNvPr>
          <p:cNvPicPr>
            <a:picLocks noChangeAspect="1"/>
          </p:cNvPicPr>
          <p:nvPr/>
        </p:nvPicPr>
        <p:blipFill>
          <a:blip r:embed="rId2"/>
          <a:stretch>
            <a:fillRect/>
          </a:stretch>
        </p:blipFill>
        <p:spPr>
          <a:xfrm>
            <a:off x="9893808" y="1435608"/>
            <a:ext cx="2307092" cy="49926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LATAR BELAKANG</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Mengapa BuyaLater dibuat</a:t>
            </a:r>
            <a:endParaRPr lang="en-US" sz="3200" dirty="0"/>
          </a:p>
        </p:txBody>
      </p:sp>
      <p:sp>
        <p:nvSpPr>
          <p:cNvPr id="4" name="Kartu Masalah di lapangan"/>
          <p:cNvSpPr/>
          <p:nvPr/>
        </p:nvSpPr>
        <p:spPr>
          <a:xfrm>
            <a:off x="822960" y="1783080"/>
            <a:ext cx="5120640" cy="4343400"/>
          </a:xfrm>
          <a:prstGeom prst="roundRect">
            <a:avLst>
              <a:gd name="adj" fmla="val 2947"/>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5" name="Lingkaran Masalah di lapangan"/>
          <p:cNvSpPr/>
          <p:nvPr/>
        </p:nvSpPr>
        <p:spPr>
          <a:xfrm>
            <a:off x="1188720" y="2057400"/>
            <a:ext cx="640080" cy="640080"/>
          </a:xfrm>
          <a:prstGeom prst="ellipse">
            <a:avLst/>
          </a:prstGeom>
          <a:solidFill>
            <a:srgbClr val="FDECEC"/>
          </a:solidFill>
          <a:ln/>
        </p:spPr>
      </p:sp>
      <p:pic>
        <p:nvPicPr>
          <p:cNvPr id="6" name="Ikon Masalah di lapangan" descr="Masalah di lapangan">    </p:cNvPr>
          <p:cNvPicPr>
            <a:picLocks noChangeAspect="1"/>
          </p:cNvPicPr>
          <p:nvPr/>
        </p:nvPicPr>
        <p:blipFill>
          <a:blip r:embed="rId1"/>
          <a:stretch>
            <a:fillRect/>
          </a:stretch>
        </p:blipFill>
        <p:spPr>
          <a:xfrm>
            <a:off x="1348740" y="2217420"/>
            <a:ext cx="320040" cy="320040"/>
          </a:xfrm>
          <a:prstGeom prst="rect">
            <a:avLst/>
          </a:prstGeom>
        </p:spPr>
      </p:pic>
      <p:sp>
        <p:nvSpPr>
          <p:cNvPr id="7" name="Judul kartu"/>
          <p:cNvSpPr txBox="1"/>
          <p:nvPr/>
        </p:nvSpPr>
        <p:spPr>
          <a:xfrm>
            <a:off x="2011680" y="2057400"/>
            <a:ext cx="3657600" cy="6400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Masalah di lapangan</a:t>
            </a:r>
            <a:endParaRPr lang="en-US" sz="2200" dirty="0"/>
          </a:p>
        </p:txBody>
      </p:sp>
      <p:sp>
        <p:nvSpPr>
          <p:cNvPr id="8" name="Nomor 1"/>
          <p:cNvSpPr txBox="1"/>
          <p:nvPr/>
        </p:nvSpPr>
        <p:spPr>
          <a:xfrm>
            <a:off x="1188720" y="301752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9" name="Poin 1"/>
          <p:cNvSpPr txBox="1"/>
          <p:nvPr/>
        </p:nvSpPr>
        <p:spPr>
          <a:xfrm>
            <a:off x="1783080" y="3017520"/>
            <a:ext cx="3886200" cy="667512"/>
          </a:xfrm>
          <a:prstGeom prst="rect">
            <a:avLst/>
          </a:prstGeom>
          <a:noFill/>
          <a:ln/>
        </p:spPr>
        <p:txBody>
          <a:bodyPr wrap="square" lIns="0" tIns="0" rIns="0" bIns="0" rtlCol="0" anchor="t"/>
          <a:lstStyle/>
          <a:p>
            <a:pPr indent="0" marL="0">
              <a:buNone/>
            </a:pPr>
            <a:r>
              <a:rPr lang="en-US" sz="1400" b="1" dirty="0">
                <a:solidFill>
                  <a:schemeClr val="tx2"/>
                </a:solidFill>
              </a:rPr>
              <a:t>Biaya tidak jelas</a:t>
            </a:r>
            <a:endParaRPr lang="en-US" sz="1400" dirty="0"/>
          </a:p>
          <a:p>
            <a:pPr indent="0" marL="0">
              <a:buNone/>
            </a:pPr>
            <a:r>
              <a:rPr lang="en-US" sz="1400" dirty="0">
                <a:solidFill>
                  <a:schemeClr val="tx1"/>
                </a:solidFill>
              </a:rPr>
              <a:t>bunga dan biaya tersembunyi baru diketahui setelah berutang</a:t>
            </a:r>
            <a:endParaRPr lang="en-US" sz="1400" dirty="0"/>
          </a:p>
        </p:txBody>
      </p:sp>
      <p:sp>
        <p:nvSpPr>
          <p:cNvPr id="10" name="Nomor 2"/>
          <p:cNvSpPr txBox="1"/>
          <p:nvPr/>
        </p:nvSpPr>
        <p:spPr>
          <a:xfrm>
            <a:off x="1188720" y="379476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11" name="Poin 2"/>
          <p:cNvSpPr txBox="1"/>
          <p:nvPr/>
        </p:nvSpPr>
        <p:spPr>
          <a:xfrm>
            <a:off x="1783080" y="3794760"/>
            <a:ext cx="3886200" cy="667512"/>
          </a:xfrm>
          <a:prstGeom prst="rect">
            <a:avLst/>
          </a:prstGeom>
          <a:noFill/>
          <a:ln/>
        </p:spPr>
        <p:txBody>
          <a:bodyPr wrap="square" lIns="0" tIns="0" rIns="0" bIns="0" rtlCol="0" anchor="t"/>
          <a:lstStyle/>
          <a:p>
            <a:pPr indent="0" marL="0">
              <a:buNone/>
            </a:pPr>
            <a:r>
              <a:rPr lang="en-US" sz="1400" b="1" dirty="0">
                <a:solidFill>
                  <a:schemeClr val="tx2"/>
                </a:solidFill>
              </a:rPr>
              <a:t>Penagihan menekan</a:t>
            </a:r>
            <a:endParaRPr lang="en-US" sz="1400" dirty="0"/>
          </a:p>
          <a:p>
            <a:pPr indent="0" marL="0">
              <a:buNone/>
            </a:pPr>
            <a:r>
              <a:rPr lang="en-US" sz="1400" dirty="0">
                <a:solidFill>
                  <a:schemeClr val="tx1"/>
                </a:solidFill>
              </a:rPr>
              <a:t>pesan kasar dan jam tidak wajar</a:t>
            </a:r>
            <a:endParaRPr lang="en-US" sz="1400" dirty="0"/>
          </a:p>
        </p:txBody>
      </p:sp>
      <p:sp>
        <p:nvSpPr>
          <p:cNvPr id="12" name="Nomor 3"/>
          <p:cNvSpPr txBox="1"/>
          <p:nvPr/>
        </p:nvSpPr>
        <p:spPr>
          <a:xfrm>
            <a:off x="1188720" y="45720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03</a:t>
            </a:r>
            <a:endParaRPr lang="en-US" sz="1800" dirty="0"/>
          </a:p>
        </p:txBody>
      </p:sp>
      <p:sp>
        <p:nvSpPr>
          <p:cNvPr id="13" name="Poin 3"/>
          <p:cNvSpPr txBox="1"/>
          <p:nvPr/>
        </p:nvSpPr>
        <p:spPr>
          <a:xfrm>
            <a:off x="1783080" y="4572000"/>
            <a:ext cx="3886200" cy="667512"/>
          </a:xfrm>
          <a:prstGeom prst="rect">
            <a:avLst/>
          </a:prstGeom>
          <a:noFill/>
          <a:ln/>
        </p:spPr>
        <p:txBody>
          <a:bodyPr wrap="square" lIns="0" tIns="0" rIns="0" bIns="0" rtlCol="0" anchor="t"/>
          <a:lstStyle/>
          <a:p>
            <a:pPr indent="0" marL="0">
              <a:buNone/>
            </a:pPr>
            <a:r>
              <a:rPr lang="en-US" sz="1400" b="1" dirty="0">
                <a:solidFill>
                  <a:schemeClr val="tx2"/>
                </a:solidFill>
              </a:rPr>
              <a:t>Pencatatan manual</a:t>
            </a:r>
            <a:endParaRPr lang="en-US" sz="1400" dirty="0"/>
          </a:p>
          <a:p>
            <a:pPr indent="0" marL="0">
              <a:buNone/>
            </a:pPr>
            <a:r>
              <a:rPr lang="en-US" sz="1400" dirty="0">
                <a:solidFill>
                  <a:schemeClr val="tx1"/>
                </a:solidFill>
              </a:rPr>
              <a:t>lambat dan rawan salah</a:t>
            </a:r>
            <a:endParaRPr lang="en-US" sz="1400" dirty="0"/>
          </a:p>
        </p:txBody>
      </p:sp>
      <p:sp>
        <p:nvSpPr>
          <p:cNvPr id="14" name="Nomor 4"/>
          <p:cNvSpPr txBox="1"/>
          <p:nvPr/>
        </p:nvSpPr>
        <p:spPr>
          <a:xfrm>
            <a:off x="1188720" y="534924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04</a:t>
            </a:r>
            <a:endParaRPr lang="en-US" sz="1800" dirty="0"/>
          </a:p>
        </p:txBody>
      </p:sp>
      <p:sp>
        <p:nvSpPr>
          <p:cNvPr id="15" name="Poin 4"/>
          <p:cNvSpPr txBox="1"/>
          <p:nvPr/>
        </p:nvSpPr>
        <p:spPr>
          <a:xfrm>
            <a:off x="1783080" y="5349240"/>
            <a:ext cx="3886200" cy="667512"/>
          </a:xfrm>
          <a:prstGeom prst="rect">
            <a:avLst/>
          </a:prstGeom>
          <a:noFill/>
          <a:ln/>
        </p:spPr>
        <p:txBody>
          <a:bodyPr wrap="square" lIns="0" tIns="0" rIns="0" bIns="0" rtlCol="0" anchor="t"/>
          <a:lstStyle/>
          <a:p>
            <a:pPr indent="0" marL="0">
              <a:buNone/>
            </a:pPr>
            <a:r>
              <a:rPr lang="en-US" sz="1400" b="1" dirty="0">
                <a:solidFill>
                  <a:schemeClr val="tx2"/>
                </a:solidFill>
              </a:rPr>
              <a:t>Sulit dipantau</a:t>
            </a:r>
            <a:endParaRPr lang="en-US" sz="1400" dirty="0"/>
          </a:p>
          <a:p>
            <a:pPr indent="0" marL="0">
              <a:buNone/>
            </a:pPr>
            <a:r>
              <a:rPr lang="en-US" sz="1400" dirty="0">
                <a:solidFill>
                  <a:schemeClr val="tx1"/>
                </a:solidFill>
              </a:rPr>
              <a:t>saldo dan jadwal tidak bisa dilihat kapan saja</a:t>
            </a:r>
            <a:endParaRPr lang="en-US" sz="1400" dirty="0"/>
          </a:p>
        </p:txBody>
      </p:sp>
      <p:sp>
        <p:nvSpPr>
          <p:cNvPr id="16" name="Kartu Jawaban BuyaLater"/>
          <p:cNvSpPr/>
          <p:nvPr/>
        </p:nvSpPr>
        <p:spPr>
          <a:xfrm>
            <a:off x="6263640" y="1783080"/>
            <a:ext cx="5120640" cy="4343400"/>
          </a:xfrm>
          <a:prstGeom prst="roundRect">
            <a:avLst>
              <a:gd name="adj" fmla="val 2947"/>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17" name="Lingkaran Jawaban BuyaLater"/>
          <p:cNvSpPr/>
          <p:nvPr/>
        </p:nvSpPr>
        <p:spPr>
          <a:xfrm>
            <a:off x="6629400" y="2057400"/>
            <a:ext cx="640080" cy="640080"/>
          </a:xfrm>
          <a:prstGeom prst="ellipse">
            <a:avLst/>
          </a:prstGeom>
          <a:solidFill>
            <a:srgbClr val="E3ECFB"/>
          </a:solidFill>
          <a:ln/>
        </p:spPr>
      </p:sp>
      <p:pic>
        <p:nvPicPr>
          <p:cNvPr id="18" name="Ikon Jawaban BuyaLater" descr="Jawaban BuyaLater">    </p:cNvPr>
          <p:cNvPicPr>
            <a:picLocks noChangeAspect="1"/>
          </p:cNvPicPr>
          <p:nvPr/>
        </p:nvPicPr>
        <p:blipFill>
          <a:blip r:embed="rId2"/>
          <a:stretch>
            <a:fillRect/>
          </a:stretch>
        </p:blipFill>
        <p:spPr>
          <a:xfrm>
            <a:off x="6789420" y="2217420"/>
            <a:ext cx="320040" cy="320040"/>
          </a:xfrm>
          <a:prstGeom prst="rect">
            <a:avLst/>
          </a:prstGeom>
        </p:spPr>
      </p:pic>
      <p:sp>
        <p:nvSpPr>
          <p:cNvPr id="19" name="Judul kartu"/>
          <p:cNvSpPr txBox="1"/>
          <p:nvPr/>
        </p:nvSpPr>
        <p:spPr>
          <a:xfrm>
            <a:off x="7452360" y="2057400"/>
            <a:ext cx="3657600" cy="6400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Jawaban BuyaLater</a:t>
            </a:r>
            <a:endParaRPr lang="en-US" sz="2200" dirty="0"/>
          </a:p>
        </p:txBody>
      </p:sp>
      <p:sp>
        <p:nvSpPr>
          <p:cNvPr id="20" name="Nomor 1"/>
          <p:cNvSpPr txBox="1"/>
          <p:nvPr/>
        </p:nvSpPr>
        <p:spPr>
          <a:xfrm>
            <a:off x="6629400" y="301752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21" name="Poin 1"/>
          <p:cNvSpPr txBox="1"/>
          <p:nvPr/>
        </p:nvSpPr>
        <p:spPr>
          <a:xfrm>
            <a:off x="7223760" y="3017520"/>
            <a:ext cx="3886200" cy="667512"/>
          </a:xfrm>
          <a:prstGeom prst="rect">
            <a:avLst/>
          </a:prstGeom>
          <a:noFill/>
          <a:ln/>
        </p:spPr>
        <p:txBody>
          <a:bodyPr wrap="square" lIns="0" tIns="0" rIns="0" bIns="0" rtlCol="0" anchor="t"/>
          <a:lstStyle/>
          <a:p>
            <a:pPr indent="0" marL="0">
              <a:buNone/>
            </a:pPr>
            <a:r>
              <a:rPr lang="en-US" sz="1400" b="1" dirty="0">
                <a:solidFill>
                  <a:schemeClr val="tx2"/>
                </a:solidFill>
              </a:rPr>
              <a:t>Koperasi untuk anggota</a:t>
            </a:r>
            <a:endParaRPr lang="en-US" sz="1400" dirty="0"/>
          </a:p>
          <a:p>
            <a:pPr indent="0" marL="0">
              <a:buNone/>
            </a:pPr>
            <a:r>
              <a:rPr lang="en-US" sz="1400" dirty="0">
                <a:solidFill>
                  <a:schemeClr val="tx1"/>
                </a:solidFill>
              </a:rPr>
              <a:t>hanya anggota terverifikasi</a:t>
            </a:r>
            <a:endParaRPr lang="en-US" sz="1400" dirty="0"/>
          </a:p>
        </p:txBody>
      </p:sp>
      <p:sp>
        <p:nvSpPr>
          <p:cNvPr id="22" name="Nomor 2"/>
          <p:cNvSpPr txBox="1"/>
          <p:nvPr/>
        </p:nvSpPr>
        <p:spPr>
          <a:xfrm>
            <a:off x="6629400" y="379476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23" name="Poin 2"/>
          <p:cNvSpPr txBox="1"/>
          <p:nvPr/>
        </p:nvSpPr>
        <p:spPr>
          <a:xfrm>
            <a:off x="7223760" y="3794760"/>
            <a:ext cx="3886200" cy="667512"/>
          </a:xfrm>
          <a:prstGeom prst="rect">
            <a:avLst/>
          </a:prstGeom>
          <a:noFill/>
          <a:ln/>
        </p:spPr>
        <p:txBody>
          <a:bodyPr wrap="square" lIns="0" tIns="0" rIns="0" bIns="0" rtlCol="0" anchor="t"/>
          <a:lstStyle/>
          <a:p>
            <a:pPr indent="0" marL="0">
              <a:buNone/>
            </a:pPr>
            <a:r>
              <a:rPr lang="en-US" sz="1400" b="1" dirty="0">
                <a:solidFill>
                  <a:schemeClr val="tx2"/>
                </a:solidFill>
              </a:rPr>
              <a:t>Biaya terbuka</a:t>
            </a:r>
            <a:endParaRPr lang="en-US" sz="1400" dirty="0"/>
          </a:p>
          <a:p>
            <a:pPr indent="0" marL="0">
              <a:buNone/>
            </a:pPr>
            <a:r>
              <a:rPr lang="en-US" sz="1400" dirty="0">
                <a:solidFill>
                  <a:schemeClr val="tx1"/>
                </a:solidFill>
              </a:rPr>
              <a:t>bunga per tahun dan efektif tampil sebelum akad</a:t>
            </a:r>
            <a:endParaRPr lang="en-US" sz="1400" dirty="0"/>
          </a:p>
        </p:txBody>
      </p:sp>
      <p:sp>
        <p:nvSpPr>
          <p:cNvPr id="24" name="Nomor 3"/>
          <p:cNvSpPr txBox="1"/>
          <p:nvPr/>
        </p:nvSpPr>
        <p:spPr>
          <a:xfrm>
            <a:off x="6629400" y="45720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03</a:t>
            </a:r>
            <a:endParaRPr lang="en-US" sz="1800" dirty="0"/>
          </a:p>
        </p:txBody>
      </p:sp>
      <p:sp>
        <p:nvSpPr>
          <p:cNvPr id="25" name="Poin 3"/>
          <p:cNvSpPr txBox="1"/>
          <p:nvPr/>
        </p:nvSpPr>
        <p:spPr>
          <a:xfrm>
            <a:off x="7223760" y="4572000"/>
            <a:ext cx="3886200" cy="667512"/>
          </a:xfrm>
          <a:prstGeom prst="rect">
            <a:avLst/>
          </a:prstGeom>
          <a:noFill/>
          <a:ln/>
        </p:spPr>
        <p:txBody>
          <a:bodyPr wrap="square" lIns="0" tIns="0" rIns="0" bIns="0" rtlCol="0" anchor="t"/>
          <a:lstStyle/>
          <a:p>
            <a:pPr indent="0" marL="0">
              <a:buNone/>
            </a:pPr>
            <a:r>
              <a:rPr lang="en-US" sz="1400" b="1" dirty="0">
                <a:solidFill>
                  <a:schemeClr val="tx2"/>
                </a:solidFill>
              </a:rPr>
              <a:t>Penagihan beretika</a:t>
            </a:r>
            <a:endParaRPr lang="en-US" sz="1400" dirty="0"/>
          </a:p>
          <a:p>
            <a:pPr indent="0" marL="0">
              <a:buNone/>
            </a:pPr>
            <a:r>
              <a:rPr lang="en-US" sz="1400" dirty="0">
                <a:solidFill>
                  <a:schemeClr val="tx1"/>
                </a:solidFill>
              </a:rPr>
              <a:t>jadwal sopan, maksimal 1 per hari, tercatat</a:t>
            </a:r>
            <a:endParaRPr lang="en-US" sz="1400" dirty="0"/>
          </a:p>
        </p:txBody>
      </p:sp>
      <p:sp>
        <p:nvSpPr>
          <p:cNvPr id="26" name="Nomor 4"/>
          <p:cNvSpPr txBox="1"/>
          <p:nvPr/>
        </p:nvSpPr>
        <p:spPr>
          <a:xfrm>
            <a:off x="6629400" y="534924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04</a:t>
            </a:r>
            <a:endParaRPr lang="en-US" sz="1800" dirty="0"/>
          </a:p>
        </p:txBody>
      </p:sp>
      <p:sp>
        <p:nvSpPr>
          <p:cNvPr id="27" name="Poin 4"/>
          <p:cNvSpPr txBox="1"/>
          <p:nvPr/>
        </p:nvSpPr>
        <p:spPr>
          <a:xfrm>
            <a:off x="7223760" y="5349240"/>
            <a:ext cx="3886200" cy="667512"/>
          </a:xfrm>
          <a:prstGeom prst="rect">
            <a:avLst/>
          </a:prstGeom>
          <a:noFill/>
          <a:ln/>
        </p:spPr>
        <p:txBody>
          <a:bodyPr wrap="square" lIns="0" tIns="0" rIns="0" bIns="0" rtlCol="0" anchor="t"/>
          <a:lstStyle/>
          <a:p>
            <a:pPr indent="0" marL="0">
              <a:buNone/>
            </a:pPr>
            <a:r>
              <a:rPr lang="en-US" sz="1400" b="1" dirty="0">
                <a:solidFill>
                  <a:schemeClr val="tx2"/>
                </a:solidFill>
              </a:rPr>
              <a:t>Serba digital</a:t>
            </a:r>
            <a:endParaRPr lang="en-US" sz="1400" dirty="0"/>
          </a:p>
          <a:p>
            <a:pPr indent="0" marL="0">
              <a:buNone/>
            </a:pPr>
            <a:r>
              <a:rPr lang="en-US" sz="1400" dirty="0">
                <a:solidFill>
                  <a:schemeClr val="tx1"/>
                </a:solidFill>
              </a:rPr>
              <a:t>portal anggota dan panel pengurus berjejak audit</a:t>
            </a:r>
            <a:endParaRPr lang="en-US" sz="14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PENGGUNA DAN HAK AKSES</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Tiga kelompok pengguna</a:t>
            </a:r>
            <a:endParaRPr lang="en-US" sz="3200" dirty="0"/>
          </a:p>
        </p:txBody>
      </p:sp>
      <p:sp>
        <p:nvSpPr>
          <p:cNvPr id="4" name="Kartu Pengunjung"/>
          <p:cNvSpPr/>
          <p:nvPr/>
        </p:nvSpPr>
        <p:spPr>
          <a:xfrm>
            <a:off x="822960" y="1783080"/>
            <a:ext cx="3383280" cy="4343400"/>
          </a:xfrm>
          <a:prstGeom prst="roundRect">
            <a:avLst>
              <a:gd name="adj" fmla="val 3784"/>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5" name="Lingkaran Pengunjung"/>
          <p:cNvSpPr/>
          <p:nvPr/>
        </p:nvSpPr>
        <p:spPr>
          <a:xfrm>
            <a:off x="1143000" y="2103120"/>
            <a:ext cx="731520" cy="731520"/>
          </a:xfrm>
          <a:prstGeom prst="ellipse">
            <a:avLst/>
          </a:prstGeom>
          <a:solidFill>
            <a:srgbClr val="1E5FC7"/>
          </a:solidFill>
          <a:ln/>
        </p:spPr>
      </p:sp>
      <p:pic>
        <p:nvPicPr>
          <p:cNvPr id="6" name="Ikon Pengunjung" descr="Pengunjung">    </p:cNvPr>
          <p:cNvPicPr>
            <a:picLocks noChangeAspect="1"/>
          </p:cNvPicPr>
          <p:nvPr/>
        </p:nvPicPr>
        <p:blipFill>
          <a:blip r:embed="rId1"/>
          <a:stretch>
            <a:fillRect/>
          </a:stretch>
        </p:blipFill>
        <p:spPr>
          <a:xfrm>
            <a:off x="1325880" y="2286000"/>
            <a:ext cx="365760" cy="365760"/>
          </a:xfrm>
          <a:prstGeom prst="rect">
            <a:avLst/>
          </a:prstGeom>
        </p:spPr>
      </p:pic>
      <p:sp>
        <p:nvSpPr>
          <p:cNvPr id="7" name="Peran"/>
          <p:cNvSpPr txBox="1"/>
          <p:nvPr/>
        </p:nvSpPr>
        <p:spPr>
          <a:xfrm>
            <a:off x="1143000" y="3017520"/>
            <a:ext cx="2743200" cy="4572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Pengunjung</a:t>
            </a:r>
            <a:endParaRPr lang="en-US" sz="2400" dirty="0"/>
          </a:p>
        </p:txBody>
      </p:sp>
      <p:sp>
        <p:nvSpPr>
          <p:cNvPr id="8" name="Sub peran"/>
          <p:cNvSpPr txBox="1"/>
          <p:nvPr/>
        </p:nvSpPr>
        <p:spPr>
          <a:xfrm>
            <a:off x="1143000" y="3474720"/>
            <a:ext cx="2743200" cy="274320"/>
          </a:xfrm>
          <a:prstGeom prst="rect">
            <a:avLst/>
          </a:prstGeom>
          <a:noFill/>
          <a:ln/>
        </p:spPr>
        <p:txBody>
          <a:bodyPr wrap="square" lIns="0" tIns="0" rIns="0" bIns="0" rtlCol="0" anchor="ctr"/>
          <a:lstStyle/>
          <a:p>
            <a:pPr indent="0" marL="0">
              <a:buNone/>
            </a:pPr>
            <a:r>
              <a:rPr lang="en-US" sz="1300" b="1" dirty="0">
                <a:solidFill>
                  <a:schemeClr val="accent1"/>
                </a:solidFill>
              </a:rPr>
              <a:t>Tanpa login</a:t>
            </a:r>
            <a:endParaRPr lang="en-US" sz="1300" dirty="0"/>
          </a:p>
        </p:txBody>
      </p:sp>
      <p:sp>
        <p:nvSpPr>
          <p:cNvPr id="9" name="Hak Pengunjung"/>
          <p:cNvSpPr txBox="1"/>
          <p:nvPr/>
        </p:nvSpPr>
        <p:spPr>
          <a:xfrm>
            <a:off x="1143000" y="3931920"/>
            <a:ext cx="2834640" cy="20116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Beranda, tentang, FAQ, berita</a:t>
            </a:r>
            <a:endParaRPr lang="en-US" sz="1400" dirty="0"/>
          </a:p>
          <a:p>
            <a:pPr marL="177800" indent="-177800">
              <a:spcAft>
                <a:spcPts val="700"/>
              </a:spcAft>
              <a:buSzPct val="100000"/>
              <a:buChar char="•"/>
            </a:pPr>
            <a:r>
              <a:rPr lang="en-US" sz="1400" dirty="0">
                <a:solidFill>
                  <a:schemeClr val="tx1"/>
                </a:solidFill>
              </a:rPr>
              <a:t>Simulasi cicilan</a:t>
            </a:r>
            <a:endParaRPr lang="en-US" sz="1400" dirty="0"/>
          </a:p>
          <a:p>
            <a:pPr marL="177800" indent="-177800">
              <a:spcAft>
                <a:spcPts val="700"/>
              </a:spcAft>
              <a:buSzPct val="100000"/>
              <a:buChar char="•"/>
            </a:pPr>
            <a:r>
              <a:rPr lang="en-US" sz="1400" dirty="0">
                <a:solidFill>
                  <a:schemeClr val="tx1"/>
                </a:solidFill>
              </a:rPr>
              <a:t>Hak anggota dan privasi</a:t>
            </a:r>
            <a:endParaRPr lang="en-US" sz="1400" dirty="0"/>
          </a:p>
          <a:p>
            <a:pPr marL="177800" indent="-177800">
              <a:spcAft>
                <a:spcPts val="700"/>
              </a:spcAft>
              <a:buSzPct val="100000"/>
              <a:buChar char="•"/>
            </a:pPr>
            <a:r>
              <a:rPr lang="en-US" sz="1400" dirty="0">
                <a:solidFill>
                  <a:schemeClr val="tx1"/>
                </a:solidFill>
              </a:rPr>
              <a:t>Pendaftaran anggota</a:t>
            </a:r>
            <a:endParaRPr lang="en-US" sz="1400" dirty="0"/>
          </a:p>
        </p:txBody>
      </p:sp>
      <p:sp>
        <p:nvSpPr>
          <p:cNvPr id="10" name="Kartu Anggota"/>
          <p:cNvSpPr/>
          <p:nvPr/>
        </p:nvSpPr>
        <p:spPr>
          <a:xfrm>
            <a:off x="4434840" y="1783080"/>
            <a:ext cx="3383280" cy="4343400"/>
          </a:xfrm>
          <a:prstGeom prst="roundRect">
            <a:avLst>
              <a:gd name="adj" fmla="val 3784"/>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11" name="Lingkaran Anggota"/>
          <p:cNvSpPr/>
          <p:nvPr/>
        </p:nvSpPr>
        <p:spPr>
          <a:xfrm>
            <a:off x="4754880" y="2103120"/>
            <a:ext cx="731520" cy="731520"/>
          </a:xfrm>
          <a:prstGeom prst="ellipse">
            <a:avLst/>
          </a:prstGeom>
          <a:solidFill>
            <a:srgbClr val="1E5FC7"/>
          </a:solidFill>
          <a:ln/>
        </p:spPr>
      </p:sp>
      <p:pic>
        <p:nvPicPr>
          <p:cNvPr id="12" name="Ikon Anggota" descr="Anggota">    </p:cNvPr>
          <p:cNvPicPr>
            <a:picLocks noChangeAspect="1"/>
          </p:cNvPicPr>
          <p:nvPr/>
        </p:nvPicPr>
        <p:blipFill>
          <a:blip r:embed="rId2"/>
          <a:stretch>
            <a:fillRect/>
          </a:stretch>
        </p:blipFill>
        <p:spPr>
          <a:xfrm>
            <a:off x="4937760" y="2286000"/>
            <a:ext cx="365760" cy="365760"/>
          </a:xfrm>
          <a:prstGeom prst="rect">
            <a:avLst/>
          </a:prstGeom>
        </p:spPr>
      </p:pic>
      <p:sp>
        <p:nvSpPr>
          <p:cNvPr id="13" name="Peran"/>
          <p:cNvSpPr txBox="1"/>
          <p:nvPr/>
        </p:nvSpPr>
        <p:spPr>
          <a:xfrm>
            <a:off x="4754880" y="3017520"/>
            <a:ext cx="2743200" cy="4572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Anggota</a:t>
            </a:r>
            <a:endParaRPr lang="en-US" sz="2400" dirty="0"/>
          </a:p>
        </p:txBody>
      </p:sp>
      <p:sp>
        <p:nvSpPr>
          <p:cNvPr id="14" name="Sub peran"/>
          <p:cNvSpPr txBox="1"/>
          <p:nvPr/>
        </p:nvSpPr>
        <p:spPr>
          <a:xfrm>
            <a:off x="4754880" y="3474720"/>
            <a:ext cx="2743200" cy="274320"/>
          </a:xfrm>
          <a:prstGeom prst="rect">
            <a:avLst/>
          </a:prstGeom>
          <a:noFill/>
          <a:ln/>
        </p:spPr>
        <p:txBody>
          <a:bodyPr wrap="square" lIns="0" tIns="0" rIns="0" bIns="0" rtlCol="0" anchor="ctr"/>
          <a:lstStyle/>
          <a:p>
            <a:pPr indent="0" marL="0">
              <a:buNone/>
            </a:pPr>
            <a:r>
              <a:rPr lang="en-US" sz="1300" b="1" dirty="0">
                <a:solidFill>
                  <a:schemeClr val="accent1"/>
                </a:solidFill>
              </a:rPr>
              <a:t>Portal anggota</a:t>
            </a:r>
            <a:endParaRPr lang="en-US" sz="1300" dirty="0"/>
          </a:p>
        </p:txBody>
      </p:sp>
      <p:sp>
        <p:nvSpPr>
          <p:cNvPr id="15" name="Hak Anggota"/>
          <p:cNvSpPr txBox="1"/>
          <p:nvPr/>
        </p:nvSpPr>
        <p:spPr>
          <a:xfrm>
            <a:off x="4754880" y="3931920"/>
            <a:ext cx="2834640" cy="20116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Dashboard simpanan dan pinjaman</a:t>
            </a:r>
            <a:endParaRPr lang="en-US" sz="1400" dirty="0"/>
          </a:p>
          <a:p>
            <a:pPr marL="177800" indent="-177800">
              <a:spcAft>
                <a:spcPts val="700"/>
              </a:spcAft>
              <a:buSzPct val="100000"/>
              <a:buChar char="•"/>
            </a:pPr>
            <a:r>
              <a:rPr lang="en-US" sz="1400" dirty="0">
                <a:solidFill>
                  <a:schemeClr val="tx1"/>
                </a:solidFill>
              </a:rPr>
              <a:t>Ajukan pinjaman, akad digital</a:t>
            </a:r>
            <a:endParaRPr lang="en-US" sz="1400" dirty="0"/>
          </a:p>
          <a:p>
            <a:pPr marL="177800" indent="-177800">
              <a:spcAft>
                <a:spcPts val="700"/>
              </a:spcAft>
              <a:buSzPct val="100000"/>
              <a:buChar char="•"/>
            </a:pPr>
            <a:r>
              <a:rPr lang="en-US" sz="1400" dirty="0">
                <a:solidFill>
                  <a:schemeClr val="tx1"/>
                </a:solidFill>
              </a:rPr>
              <a:t>Bayar angsuran + bukti</a:t>
            </a:r>
            <a:endParaRPr lang="en-US" sz="1400" dirty="0"/>
          </a:p>
          <a:p>
            <a:pPr marL="177800" indent="-177800">
              <a:spcAft>
                <a:spcPts val="700"/>
              </a:spcAft>
              <a:buSzPct val="100000"/>
              <a:buChar char="•"/>
            </a:pPr>
            <a:r>
              <a:rPr lang="en-US" sz="1400" dirty="0">
                <a:solidFill>
                  <a:schemeClr val="tx1"/>
                </a:solidFill>
              </a:rPr>
              <a:t>Pengaduan, unduh data</a:t>
            </a:r>
            <a:endParaRPr lang="en-US" sz="1400" dirty="0"/>
          </a:p>
        </p:txBody>
      </p:sp>
      <p:sp>
        <p:nvSpPr>
          <p:cNvPr id="16" name="Kartu Pengurus"/>
          <p:cNvSpPr/>
          <p:nvPr/>
        </p:nvSpPr>
        <p:spPr>
          <a:xfrm>
            <a:off x="8046720" y="1783080"/>
            <a:ext cx="3383280" cy="4343400"/>
          </a:xfrm>
          <a:prstGeom prst="roundRect">
            <a:avLst>
              <a:gd name="adj" fmla="val 3784"/>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17" name="Lingkaran Pengurus"/>
          <p:cNvSpPr/>
          <p:nvPr/>
        </p:nvSpPr>
        <p:spPr>
          <a:xfrm>
            <a:off x="8366760" y="2103120"/>
            <a:ext cx="731520" cy="731520"/>
          </a:xfrm>
          <a:prstGeom prst="ellipse">
            <a:avLst/>
          </a:prstGeom>
          <a:solidFill>
            <a:srgbClr val="0B1437"/>
          </a:solidFill>
          <a:ln/>
        </p:spPr>
      </p:sp>
      <p:pic>
        <p:nvPicPr>
          <p:cNvPr id="18" name="Ikon Pengurus" descr="Pengurus">    </p:cNvPr>
          <p:cNvPicPr>
            <a:picLocks noChangeAspect="1"/>
          </p:cNvPicPr>
          <p:nvPr/>
        </p:nvPicPr>
        <p:blipFill>
          <a:blip r:embed="rId3"/>
          <a:stretch>
            <a:fillRect/>
          </a:stretch>
        </p:blipFill>
        <p:spPr>
          <a:xfrm>
            <a:off x="8549640" y="2286000"/>
            <a:ext cx="365760" cy="365760"/>
          </a:xfrm>
          <a:prstGeom prst="rect">
            <a:avLst/>
          </a:prstGeom>
        </p:spPr>
      </p:pic>
      <p:sp>
        <p:nvSpPr>
          <p:cNvPr id="19" name="Peran"/>
          <p:cNvSpPr txBox="1"/>
          <p:nvPr/>
        </p:nvSpPr>
        <p:spPr>
          <a:xfrm>
            <a:off x="8366760" y="3017520"/>
            <a:ext cx="2743200" cy="4572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Pengurus</a:t>
            </a:r>
            <a:endParaRPr lang="en-US" sz="2400" dirty="0"/>
          </a:p>
        </p:txBody>
      </p:sp>
      <p:sp>
        <p:nvSpPr>
          <p:cNvPr id="20" name="Sub peran"/>
          <p:cNvSpPr txBox="1"/>
          <p:nvPr/>
        </p:nvSpPr>
        <p:spPr>
          <a:xfrm>
            <a:off x="8366760" y="3474720"/>
            <a:ext cx="2743200" cy="274320"/>
          </a:xfrm>
          <a:prstGeom prst="rect">
            <a:avLst/>
          </a:prstGeom>
          <a:noFill/>
          <a:ln/>
        </p:spPr>
        <p:txBody>
          <a:bodyPr wrap="square" lIns="0" tIns="0" rIns="0" bIns="0" rtlCol="0" anchor="ctr"/>
          <a:lstStyle/>
          <a:p>
            <a:pPr indent="0" marL="0">
              <a:buNone/>
            </a:pPr>
            <a:r>
              <a:rPr lang="en-US" sz="1300" b="1" dirty="0">
                <a:solidFill>
                  <a:schemeClr val="accent1"/>
                </a:solidFill>
              </a:rPr>
              <a:t>Admin, Manajer, Teller</a:t>
            </a:r>
            <a:endParaRPr lang="en-US" sz="1300" dirty="0"/>
          </a:p>
        </p:txBody>
      </p:sp>
      <p:sp>
        <p:nvSpPr>
          <p:cNvPr id="21" name="Hak Pengurus"/>
          <p:cNvSpPr txBox="1"/>
          <p:nvPr/>
        </p:nvSpPr>
        <p:spPr>
          <a:xfrm>
            <a:off x="8366760" y="3931920"/>
            <a:ext cx="2834640" cy="20116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Verifikasi KTP dan KYC</a:t>
            </a:r>
            <a:endParaRPr lang="en-US" sz="1400" dirty="0"/>
          </a:p>
          <a:p>
            <a:pPr marL="177800" indent="-177800">
              <a:spcAft>
                <a:spcPts val="700"/>
              </a:spcAft>
              <a:buSzPct val="100000"/>
              <a:buChar char="•"/>
            </a:pPr>
            <a:r>
              <a:rPr lang="en-US" sz="1400" dirty="0">
                <a:solidFill>
                  <a:schemeClr val="tx1"/>
                </a:solidFill>
              </a:rPr>
              <a:t>Setujui pinjaman (Manajer)</a:t>
            </a:r>
            <a:endParaRPr lang="en-US" sz="1400" dirty="0"/>
          </a:p>
          <a:p>
            <a:pPr marL="177800" indent="-177800">
              <a:spcAft>
                <a:spcPts val="700"/>
              </a:spcAft>
              <a:buSzPct val="100000"/>
              <a:buChar char="•"/>
            </a:pPr>
            <a:r>
              <a:rPr lang="en-US" sz="1400" dirty="0">
                <a:solidFill>
                  <a:schemeClr val="tx1"/>
                </a:solidFill>
              </a:rPr>
              <a:t>Pencairan, verifikasi bayar (Teller)</a:t>
            </a:r>
            <a:endParaRPr lang="en-US" sz="1400" dirty="0"/>
          </a:p>
          <a:p>
            <a:pPr marL="177800" indent="-177800">
              <a:spcAft>
                <a:spcPts val="700"/>
              </a:spcAft>
              <a:buSzPct val="100000"/>
              <a:buChar char="•"/>
            </a:pPr>
            <a:r>
              <a:rPr lang="en-US" sz="1400" dirty="0">
                <a:solidFill>
                  <a:schemeClr val="tx1"/>
                </a:solidFill>
              </a:rPr>
              <a:t>Laporan, pengaturan, audit</a:t>
            </a:r>
            <a:endParaRPr lang="en-US" sz="14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PANDUAN UNTUK PENGUJI</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Cara masuk dan akun contoh</a:t>
            </a:r>
            <a:endParaRPr lang="en-US" sz="3200" dirty="0"/>
          </a:p>
        </p:txBody>
      </p:sp>
      <p:sp>
        <p:nvSpPr>
          <p:cNvPr id="4" name="Kartu Anggota"/>
          <p:cNvSpPr/>
          <p:nvPr/>
        </p:nvSpPr>
        <p:spPr>
          <a:xfrm>
            <a:off x="822960" y="1783080"/>
            <a:ext cx="5166360" cy="2011680"/>
          </a:xfrm>
          <a:prstGeom prst="roundRect">
            <a:avLst>
              <a:gd name="adj" fmla="val 6364"/>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5" name="Lingkaran Anggota"/>
          <p:cNvSpPr/>
          <p:nvPr/>
        </p:nvSpPr>
        <p:spPr>
          <a:xfrm>
            <a:off x="1097280" y="2011680"/>
            <a:ext cx="594360" cy="594360"/>
          </a:xfrm>
          <a:prstGeom prst="ellipse">
            <a:avLst/>
          </a:prstGeom>
          <a:solidFill>
            <a:srgbClr val="1E5FC7"/>
          </a:solidFill>
          <a:ln/>
        </p:spPr>
      </p:sp>
      <p:pic>
        <p:nvPicPr>
          <p:cNvPr id="6" name="Ikon Anggota" descr="Anggota">    </p:cNvPr>
          <p:cNvPicPr>
            <a:picLocks noChangeAspect="1"/>
          </p:cNvPicPr>
          <p:nvPr/>
        </p:nvPicPr>
        <p:blipFill>
          <a:blip r:embed="rId1"/>
          <a:stretch>
            <a:fillRect/>
          </a:stretch>
        </p:blipFill>
        <p:spPr>
          <a:xfrm>
            <a:off x="1245870" y="2160270"/>
            <a:ext cx="297180" cy="297180"/>
          </a:xfrm>
          <a:prstGeom prst="rect">
            <a:avLst/>
          </a:prstGeom>
        </p:spPr>
      </p:pic>
      <p:sp>
        <p:nvSpPr>
          <p:cNvPr id="7" name="Alur Anggota"/>
          <p:cNvSpPr txBox="1"/>
          <p:nvPr/>
        </p:nvSpPr>
        <p:spPr>
          <a:xfrm>
            <a:off x="1828800" y="2011680"/>
            <a:ext cx="2103120" cy="5943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Anggota</a:t>
            </a:r>
            <a:endParaRPr lang="en-US" sz="2000" dirty="0"/>
          </a:p>
        </p:txBody>
      </p:sp>
      <p:sp>
        <p:nvSpPr>
          <p:cNvPr id="8" name="Tujuan Anggota"/>
          <p:cNvSpPr txBox="1"/>
          <p:nvPr/>
        </p:nvSpPr>
        <p:spPr>
          <a:xfrm>
            <a:off x="3657600" y="2011680"/>
            <a:ext cx="2194560" cy="594360"/>
          </a:xfrm>
          <a:prstGeom prst="rect">
            <a:avLst/>
          </a:prstGeom>
          <a:noFill/>
          <a:ln/>
        </p:spPr>
        <p:txBody>
          <a:bodyPr wrap="square" lIns="0" tIns="0" rIns="0" bIns="0" rtlCol="0" anchor="ctr"/>
          <a:lstStyle/>
          <a:p>
            <a:pPr algn="r" indent="0" marL="0">
              <a:buNone/>
            </a:pPr>
            <a:r>
              <a:rPr lang="en-US" sz="1200" b="1" dirty="0">
                <a:solidFill>
                  <a:schemeClr val="accent1"/>
                </a:solidFill>
              </a:rPr>
              <a:t>setelah login: /anggota/dashboard</a:t>
            </a:r>
            <a:endParaRPr lang="en-US" sz="1200" dirty="0"/>
          </a:p>
        </p:txBody>
      </p:sp>
      <p:sp>
        <p:nvSpPr>
          <p:cNvPr id="9" name="Langkah Anggota"/>
          <p:cNvSpPr txBox="1"/>
          <p:nvPr/>
        </p:nvSpPr>
        <p:spPr>
          <a:xfrm>
            <a:off x="1143000" y="2743200"/>
            <a:ext cx="4572000" cy="91440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400" dirty="0">
                <a:solidFill>
                  <a:schemeClr val="tx1"/>
                </a:solidFill>
              </a:rPr>
              <a:t>Buka halaman /login</a:t>
            </a:r>
            <a:endParaRPr lang="en-US" sz="1400" dirty="0"/>
          </a:p>
          <a:p>
            <a:pPr marL="342900" indent="-342900">
              <a:spcAft>
                <a:spcPts val="400"/>
              </a:spcAft>
              <a:buSzPct val="100000"/>
              <a:buFont typeface="+mj-lt"/>
              <a:buAutoNum type="arabicPeriod" startAt="1"/>
            </a:pPr>
            <a:r>
              <a:rPr lang="en-US" sz="1400" dirty="0">
                <a:solidFill>
                  <a:schemeClr val="tx1"/>
                </a:solidFill>
              </a:rPr>
              <a:t>Isi email dan password</a:t>
            </a:r>
            <a:endParaRPr lang="en-US" sz="1400" dirty="0"/>
          </a:p>
          <a:p>
            <a:pPr marL="342900" indent="-342900">
              <a:spcAft>
                <a:spcPts val="400"/>
              </a:spcAft>
              <a:buSzPct val="100000"/>
              <a:buFont typeface="+mj-lt"/>
              <a:buAutoNum type="arabicPeriod" startAt="1"/>
            </a:pPr>
            <a:r>
              <a:rPr lang="en-US" sz="1400" dirty="0">
                <a:solidFill>
                  <a:schemeClr val="tx1"/>
                </a:solidFill>
              </a:rPr>
              <a:t>Klik Masuk, tampil portal anggota</a:t>
            </a:r>
            <a:endParaRPr lang="en-US" sz="1400" dirty="0"/>
          </a:p>
        </p:txBody>
      </p:sp>
      <p:sp>
        <p:nvSpPr>
          <p:cNvPr id="10" name="Kartu Admin / Pengurus"/>
          <p:cNvSpPr/>
          <p:nvPr/>
        </p:nvSpPr>
        <p:spPr>
          <a:xfrm>
            <a:off x="6172200" y="1783080"/>
            <a:ext cx="5166360" cy="2011680"/>
          </a:xfrm>
          <a:prstGeom prst="roundRect">
            <a:avLst>
              <a:gd name="adj" fmla="val 6364"/>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11" name="Lingkaran Admin / Pengurus"/>
          <p:cNvSpPr/>
          <p:nvPr/>
        </p:nvSpPr>
        <p:spPr>
          <a:xfrm>
            <a:off x="6446520" y="2011680"/>
            <a:ext cx="594360" cy="594360"/>
          </a:xfrm>
          <a:prstGeom prst="ellipse">
            <a:avLst/>
          </a:prstGeom>
          <a:solidFill>
            <a:srgbClr val="0B1437"/>
          </a:solidFill>
          <a:ln/>
        </p:spPr>
      </p:sp>
      <p:pic>
        <p:nvPicPr>
          <p:cNvPr id="12" name="Ikon Admin / Pengurus" descr="Admin / Pengurus">    </p:cNvPr>
          <p:cNvPicPr>
            <a:picLocks noChangeAspect="1"/>
          </p:cNvPicPr>
          <p:nvPr/>
        </p:nvPicPr>
        <p:blipFill>
          <a:blip r:embed="rId2"/>
          <a:stretch>
            <a:fillRect/>
          </a:stretch>
        </p:blipFill>
        <p:spPr>
          <a:xfrm>
            <a:off x="6595110" y="2160270"/>
            <a:ext cx="297180" cy="297180"/>
          </a:xfrm>
          <a:prstGeom prst="rect">
            <a:avLst/>
          </a:prstGeom>
        </p:spPr>
      </p:pic>
      <p:sp>
        <p:nvSpPr>
          <p:cNvPr id="13" name="Alur Admin / Pengurus"/>
          <p:cNvSpPr txBox="1"/>
          <p:nvPr/>
        </p:nvSpPr>
        <p:spPr>
          <a:xfrm>
            <a:off x="7178040" y="2011680"/>
            <a:ext cx="2103120" cy="5943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Admin / Pengurus</a:t>
            </a:r>
            <a:endParaRPr lang="en-US" sz="2000" dirty="0"/>
          </a:p>
        </p:txBody>
      </p:sp>
      <p:sp>
        <p:nvSpPr>
          <p:cNvPr id="14" name="Tujuan Admin / Pengurus"/>
          <p:cNvSpPr txBox="1"/>
          <p:nvPr/>
        </p:nvSpPr>
        <p:spPr>
          <a:xfrm>
            <a:off x="9006840" y="2011680"/>
            <a:ext cx="2194560" cy="594360"/>
          </a:xfrm>
          <a:prstGeom prst="rect">
            <a:avLst/>
          </a:prstGeom>
          <a:noFill/>
          <a:ln/>
        </p:spPr>
        <p:txBody>
          <a:bodyPr wrap="square" lIns="0" tIns="0" rIns="0" bIns="0" rtlCol="0" anchor="ctr"/>
          <a:lstStyle/>
          <a:p>
            <a:pPr algn="r" indent="0" marL="0">
              <a:buNone/>
            </a:pPr>
            <a:r>
              <a:rPr lang="en-US" sz="1200" b="1" dirty="0">
                <a:solidFill>
                  <a:schemeClr val="accent1"/>
                </a:solidFill>
              </a:rPr>
              <a:t>setelah login: /admin/dashboard</a:t>
            </a:r>
            <a:endParaRPr lang="en-US" sz="1200" dirty="0"/>
          </a:p>
        </p:txBody>
      </p:sp>
      <p:sp>
        <p:nvSpPr>
          <p:cNvPr id="15" name="Langkah Admin / Pengurus"/>
          <p:cNvSpPr txBox="1"/>
          <p:nvPr/>
        </p:nvSpPr>
        <p:spPr>
          <a:xfrm>
            <a:off x="6492240" y="2743200"/>
            <a:ext cx="4572000" cy="91440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400" dirty="0">
                <a:solidFill>
                  <a:schemeClr val="tx1"/>
                </a:solidFill>
              </a:rPr>
              <a:t>Buka halaman /login yang sama</a:t>
            </a:r>
            <a:endParaRPr lang="en-US" sz="1400" dirty="0"/>
          </a:p>
          <a:p>
            <a:pPr marL="342900" indent="-342900">
              <a:spcAft>
                <a:spcPts val="400"/>
              </a:spcAft>
              <a:buSzPct val="100000"/>
              <a:buFont typeface="+mj-lt"/>
              <a:buAutoNum type="arabicPeriod" startAt="1"/>
            </a:pPr>
            <a:r>
              <a:rPr lang="en-US" sz="1400" dirty="0">
                <a:solidFill>
                  <a:schemeClr val="tx1"/>
                </a:solidFill>
              </a:rPr>
              <a:t>Isi email dan password pengurus</a:t>
            </a:r>
            <a:endParaRPr lang="en-US" sz="1400" dirty="0"/>
          </a:p>
          <a:p>
            <a:pPr marL="342900" indent="-342900">
              <a:spcAft>
                <a:spcPts val="400"/>
              </a:spcAft>
              <a:buSzPct val="100000"/>
              <a:buFont typeface="+mj-lt"/>
              <a:buAutoNum type="arabicPeriod" startAt="1"/>
            </a:pPr>
            <a:r>
              <a:rPr lang="en-US" sz="1400" dirty="0">
                <a:solidFill>
                  <a:schemeClr val="tx1"/>
                </a:solidFill>
              </a:rPr>
              <a:t>Klik Masuk, tampil panel admin</a:t>
            </a:r>
            <a:endParaRPr lang="en-US" sz="1400" dirty="0"/>
          </a:p>
        </p:txBody>
      </p:sp>
      <p:graphicFrame>
        <p:nvGraphicFramePr>
          <p:cNvPr id="5" name="Tabel akun contoh"/>
          <p:cNvGraphicFramePr>
            <a:graphicFrameLocks noGrp="1"/>
          </p:cNvGraphicFramePr>
          <p:nvPr>
            <p:extLst>
              <p:ext uri="{D42A27DB-BD31-4B8C-83A1-F6EECF244321}">
                <p14:modId xmlns:p14="http://schemas.microsoft.com/office/powerpoint/2010/main" val="1579011935"/>
              </p:ext>
            </p:extLst>
          </p:nvPr>
        </p:nvGraphicFramePr>
        <p:xfrm>
          <a:off x="822960" y="4023360"/>
          <a:ext cx="10515600" cy="914400"/>
        </p:xfrm>
        <a:graphic>
          <a:graphicData uri="http://schemas.openxmlformats.org/drawingml/2006/table">
            <a:tbl>
              <a:tblPr/>
              <a:tblGrid>
                <a:gridCol w="1463040"/>
                <a:gridCol w="4023360"/>
                <a:gridCol w="1828800"/>
                <a:gridCol w="3200400"/>
              </a:tblGrid>
              <a:tr h="347472">
                <a:tc>
                  <a:txBody>
                    <a:bodyPr/>
                    <a:lstStyle/>
                    <a:p>
                      <a:pPr indent="0" marL="0">
                        <a:buNone/>
                      </a:pPr>
                      <a:r>
                        <a:rPr lang="en-US" sz="1300" b="1" dirty="0">
                          <a:solidFill>
                            <a:srgbClr val="FFFFFF"/>
                          </a:solidFill>
                        </a:rPr>
                        <a:t>Peran</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0B1437"/>
                    </a:solidFill>
                  </a:tcPr>
                </a:tc>
                <a:tc>
                  <a:txBody>
                    <a:bodyPr/>
                    <a:lstStyle/>
                    <a:p>
                      <a:pPr indent="0" marL="0">
                        <a:buNone/>
                      </a:pPr>
                      <a:r>
                        <a:rPr lang="en-US" sz="1300" b="1" dirty="0">
                          <a:solidFill>
                            <a:srgbClr val="FFFFFF"/>
                          </a:solidFill>
                        </a:rPr>
                        <a:t>Email (username login)</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0B1437"/>
                    </a:solidFill>
                  </a:tcPr>
                </a:tc>
                <a:tc>
                  <a:txBody>
                    <a:bodyPr/>
                    <a:lstStyle/>
                    <a:p>
                      <a:pPr indent="0" marL="0">
                        <a:buNone/>
                      </a:pPr>
                      <a:r>
                        <a:rPr lang="en-US" sz="1300" b="1" dirty="0">
                          <a:solidFill>
                            <a:srgbClr val="FFFFFF"/>
                          </a:solidFill>
                        </a:rPr>
                        <a:t>Password</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0B1437"/>
                    </a:solidFill>
                  </a:tcPr>
                </a:tc>
                <a:tc>
                  <a:txBody>
                    <a:bodyPr/>
                    <a:lstStyle/>
                    <a:p>
                      <a:pPr indent="0" marL="0">
                        <a:buNone/>
                      </a:pPr>
                      <a:r>
                        <a:rPr lang="en-US" sz="1300" b="1" dirty="0">
                          <a:solidFill>
                            <a:srgbClr val="FFFFFF"/>
                          </a:solidFill>
                        </a:rPr>
                        <a:t>Masuk ke</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0B1437"/>
                    </a:solidFill>
                  </a:tcPr>
                </a:tc>
              </a:tr>
              <a:tr h="347472">
                <a:tc>
                  <a:txBody>
                    <a:bodyPr/>
                    <a:lstStyle/>
                    <a:p>
                      <a:pPr indent="0" marL="0">
                        <a:buNone/>
                      </a:pPr>
                      <a:r>
                        <a:rPr lang="en-US" sz="1300" b="1" dirty="0">
                          <a:solidFill>
                            <a:srgbClr val="111827"/>
                          </a:solidFill>
                        </a:rPr>
                        <a:t>Admin</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admin@buyalatter.com</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admin123</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/admin/dashboard</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r>
              <a:tr h="347472">
                <a:tc>
                  <a:txBody>
                    <a:bodyPr/>
                    <a:lstStyle/>
                    <a:p>
                      <a:pPr indent="0" marL="0">
                        <a:buNone/>
                      </a:pPr>
                      <a:r>
                        <a:rPr lang="en-US" sz="1300" b="1" dirty="0">
                          <a:solidFill>
                            <a:srgbClr val="111827"/>
                          </a:solidFill>
                        </a:rPr>
                        <a:t>Manajer</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manajer@buyalatter.com</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manajer123</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/admin/dashboard</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r>
              <a:tr h="347472">
                <a:tc>
                  <a:txBody>
                    <a:bodyPr/>
                    <a:lstStyle/>
                    <a:p>
                      <a:pPr indent="0" marL="0">
                        <a:buNone/>
                      </a:pPr>
                      <a:r>
                        <a:rPr lang="en-US" sz="1300" b="1" dirty="0">
                          <a:solidFill>
                            <a:srgbClr val="111827"/>
                          </a:solidFill>
                        </a:rPr>
                        <a:t>Teller</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teller@buyalatter.com</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teller123</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/admin/dashboard</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r>
              <a:tr h="347472">
                <a:tc>
                  <a:txBody>
                    <a:bodyPr/>
                    <a:lstStyle/>
                    <a:p>
                      <a:pPr indent="0" marL="0">
                        <a:buNone/>
                      </a:pPr>
                      <a:r>
                        <a:rPr lang="en-US" sz="1300" b="1" dirty="0">
                          <a:solidFill>
                            <a:srgbClr val="111827"/>
                          </a:solidFill>
                        </a:rPr>
                        <a:t>Anggota</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budi.santoso@buyalatter.com</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anggota123</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/anggota/dashboard</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r>
            </a:tbl>
          </a:graphicData>
        </a:graphic>
      </p:graphicFrame>
      <p:sp>
        <p:nvSpPr>
          <p:cNvPr id="17" name="Catatan login"/>
          <p:cNvSpPr txBox="1"/>
          <p:nvPr/>
        </p:nvSpPr>
        <p:spPr>
          <a:xfrm>
            <a:off x="822960" y="5989320"/>
            <a:ext cx="10515600" cy="365760"/>
          </a:xfrm>
          <a:prstGeom prst="rect">
            <a:avLst/>
          </a:prstGeom>
          <a:noFill/>
          <a:ln/>
        </p:spPr>
        <p:txBody>
          <a:bodyPr wrap="square" lIns="0" tIns="0" rIns="0" bIns="0" rtlCol="0" anchor="t"/>
          <a:lstStyle/>
          <a:p>
            <a:pPr indent="0" marL="0">
              <a:buNone/>
            </a:pPr>
            <a:r>
              <a:rPr lang="en-US" sz="1200" dirty="0">
                <a:solidFill>
                  <a:schemeClr val="accent6"/>
                </a:solidFill>
              </a:rPr>
              <a:t>Semua anggota contoh lain memakai password anggota123. Salah password 5 kali mengunci akun 15 menit; sesi berakhir setelah 30 menit tanpa aktivitas.</a:t>
            </a:r>
            <a:endParaRPr lang="en-US" sz="12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TAMPILAN PUBLIK</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Situs publik: pintu masuk calon anggota</a:t>
            </a:r>
            <a:endParaRPr lang="en-US" sz="3200" dirty="0"/>
          </a:p>
        </p:txBody>
      </p:sp>
      <p:sp>
        <p:nvSpPr>
          <p:cNvPr id="4" name="Panel situs publik"/>
          <p:cNvSpPr/>
          <p:nvPr/>
        </p:nvSpPr>
        <p:spPr>
          <a:xfrm>
            <a:off x="822960" y="1783080"/>
            <a:ext cx="6583680" cy="4343400"/>
          </a:xfrm>
          <a:prstGeom prst="roundRect">
            <a:avLst>
              <a:gd name="adj" fmla="val 4211"/>
            </a:avLst>
          </a:prstGeom>
          <a:solidFill>
            <a:schemeClr val="bg2"/>
          </a:solidFill>
          <a:ln/>
        </p:spPr>
      </p:sp>
      <p:sp>
        <p:nvSpPr>
          <p:cNvPr id="5" name="Jendela beranda"/>
          <p:cNvSpPr/>
          <p:nvPr/>
        </p:nvSpPr>
        <p:spPr>
          <a:xfrm>
            <a:off x="1143000" y="2148840"/>
            <a:ext cx="5943600" cy="3989070"/>
          </a:xfrm>
          <a:prstGeom prst="roundRect">
            <a:avLst>
              <a:gd name="adj" fmla="val 1834"/>
            </a:avLst>
          </a:prstGeom>
          <a:solidFill>
            <a:srgbClr val="FFFFFF"/>
          </a:solidFill>
          <a:ln w="12700">
            <a:solidFill>
              <a:srgbClr val="CBD5E1"/>
            </a:solidFill>
            <a:prstDash val="solid"/>
          </a:ln>
          <a:effectLst>
            <a:outerShdw sx="100000" sy="100000" kx="0" ky="0" algn="bl" rotWithShape="0" blurRad="152400" dist="50800" dir="5400000">
              <a:srgbClr val="0B1437">
                <a:alpha val="18000"/>
              </a:srgbClr>
            </a:outerShdw>
          </a:effectLst>
        </p:spPr>
      </p:sp>
      <p:sp>
        <p:nvSpPr>
          <p:cNvPr id="6" name="Bilah beranda"/>
          <p:cNvSpPr/>
          <p:nvPr/>
        </p:nvSpPr>
        <p:spPr>
          <a:xfrm>
            <a:off x="1152144" y="2157984"/>
            <a:ext cx="5925312" cy="265176"/>
          </a:xfrm>
          <a:prstGeom prst="rect">
            <a:avLst/>
          </a:prstGeom>
          <a:solidFill>
            <a:srgbClr val="E2E8F0"/>
          </a:solidFill>
          <a:ln/>
        </p:spPr>
      </p:sp>
      <p:sp>
        <p:nvSpPr>
          <p:cNvPr id="7" name="Titik 0"/>
          <p:cNvSpPr/>
          <p:nvPr/>
        </p:nvSpPr>
        <p:spPr>
          <a:xfrm>
            <a:off x="1271016" y="2231136"/>
            <a:ext cx="109728" cy="109728"/>
          </a:xfrm>
          <a:prstGeom prst="ellipse">
            <a:avLst/>
          </a:prstGeom>
          <a:solidFill>
            <a:srgbClr val="F87171"/>
          </a:solidFill>
          <a:ln/>
        </p:spPr>
      </p:sp>
      <p:sp>
        <p:nvSpPr>
          <p:cNvPr id="8" name="Titik 1"/>
          <p:cNvSpPr/>
          <p:nvPr/>
        </p:nvSpPr>
        <p:spPr>
          <a:xfrm>
            <a:off x="1453896" y="2231136"/>
            <a:ext cx="109728" cy="109728"/>
          </a:xfrm>
          <a:prstGeom prst="ellipse">
            <a:avLst/>
          </a:prstGeom>
          <a:solidFill>
            <a:srgbClr val="FBBF24"/>
          </a:solidFill>
          <a:ln/>
        </p:spPr>
      </p:sp>
      <p:sp>
        <p:nvSpPr>
          <p:cNvPr id="9" name="Titik 2"/>
          <p:cNvSpPr/>
          <p:nvPr/>
        </p:nvSpPr>
        <p:spPr>
          <a:xfrm>
            <a:off x="1636776" y="2231136"/>
            <a:ext cx="109728" cy="109728"/>
          </a:xfrm>
          <a:prstGeom prst="ellipse">
            <a:avLst/>
          </a:prstGeom>
          <a:solidFill>
            <a:srgbClr val="4ADE80"/>
          </a:solidFill>
          <a:ln/>
        </p:spPr>
      </p:sp>
      <p:pic>
        <p:nvPicPr>
          <p:cNvPr id="10" name="Layar beranda" descr="Tampilan desktop: beranda">    </p:cNvPr>
          <p:cNvPicPr>
            <a:picLocks noChangeAspect="1"/>
          </p:cNvPicPr>
          <p:nvPr/>
        </p:nvPicPr>
        <p:blipFill>
          <a:blip r:embed="rId1"/>
          <a:stretch>
            <a:fillRect/>
          </a:stretch>
        </p:blipFill>
        <p:spPr>
          <a:xfrm>
            <a:off x="1152144" y="2423160"/>
            <a:ext cx="5925312" cy="3705606"/>
          </a:xfrm>
          <a:prstGeom prst="rect">
            <a:avLst/>
          </a:prstGeom>
        </p:spPr>
      </p:pic>
      <p:sp>
        <p:nvSpPr>
          <p:cNvPr id="11" name="Nomor 1"/>
          <p:cNvSpPr txBox="1"/>
          <p:nvPr/>
        </p:nvSpPr>
        <p:spPr>
          <a:xfrm>
            <a:off x="7772400" y="18288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12" name="Poin 1"/>
          <p:cNvSpPr txBox="1"/>
          <p:nvPr/>
        </p:nvSpPr>
        <p:spPr>
          <a:xfrm>
            <a:off x="8366760" y="1828800"/>
            <a:ext cx="2971800" cy="941832"/>
          </a:xfrm>
          <a:prstGeom prst="rect">
            <a:avLst/>
          </a:prstGeom>
          <a:noFill/>
          <a:ln/>
        </p:spPr>
        <p:txBody>
          <a:bodyPr wrap="square" lIns="0" tIns="0" rIns="0" bIns="0" rtlCol="0" anchor="t"/>
          <a:lstStyle/>
          <a:p>
            <a:pPr indent="0" marL="0">
              <a:buNone/>
            </a:pPr>
            <a:r>
              <a:rPr lang="en-US" sz="1500" b="1" dirty="0">
                <a:solidFill>
                  <a:schemeClr val="tx2"/>
                </a:solidFill>
              </a:rPr>
              <a:t>Pesan yang jelas</a:t>
            </a:r>
            <a:endParaRPr lang="en-US" sz="1500" dirty="0"/>
          </a:p>
          <a:p>
            <a:pPr indent="0" marL="0">
              <a:buNone/>
            </a:pPr>
            <a:r>
              <a:rPr lang="en-US" sz="1500" dirty="0">
                <a:solidFill>
                  <a:schemeClr val="tx1"/>
                </a:solidFill>
              </a:rPr>
              <a:t>koperasi simpan pinjam digital untuk anggota</a:t>
            </a:r>
            <a:endParaRPr lang="en-US" sz="1500" dirty="0"/>
          </a:p>
        </p:txBody>
      </p:sp>
      <p:sp>
        <p:nvSpPr>
          <p:cNvPr id="13" name="Nomor 2"/>
          <p:cNvSpPr txBox="1"/>
          <p:nvPr/>
        </p:nvSpPr>
        <p:spPr>
          <a:xfrm>
            <a:off x="7772400" y="288036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14" name="Poin 2"/>
          <p:cNvSpPr txBox="1"/>
          <p:nvPr/>
        </p:nvSpPr>
        <p:spPr>
          <a:xfrm>
            <a:off x="8366760" y="2880360"/>
            <a:ext cx="2971800" cy="941832"/>
          </a:xfrm>
          <a:prstGeom prst="rect">
            <a:avLst/>
          </a:prstGeom>
          <a:noFill/>
          <a:ln/>
        </p:spPr>
        <p:txBody>
          <a:bodyPr wrap="square" lIns="0" tIns="0" rIns="0" bIns="0" rtlCol="0" anchor="t"/>
          <a:lstStyle/>
          <a:p>
            <a:pPr indent="0" marL="0">
              <a:buNone/>
            </a:pPr>
            <a:r>
              <a:rPr lang="en-US" sz="1500" b="1" dirty="0">
                <a:solidFill>
                  <a:schemeClr val="tx2"/>
                </a:solidFill>
              </a:rPr>
              <a:t>Angka nyata</a:t>
            </a:r>
            <a:endParaRPr lang="en-US" sz="1500" dirty="0"/>
          </a:p>
          <a:p>
            <a:pPr indent="0" marL="0">
              <a:buNone/>
            </a:pPr>
            <a:r>
              <a:rPr lang="en-US" sz="1500" dirty="0">
                <a:solidFill>
                  <a:schemeClr val="tx1"/>
                </a:solidFill>
              </a:rPr>
              <a:t>anggota aktif dan dana tersalurkan dari database</a:t>
            </a:r>
            <a:endParaRPr lang="en-US" sz="1500" dirty="0"/>
          </a:p>
        </p:txBody>
      </p:sp>
      <p:sp>
        <p:nvSpPr>
          <p:cNvPr id="15" name="Nomor 3"/>
          <p:cNvSpPr txBox="1"/>
          <p:nvPr/>
        </p:nvSpPr>
        <p:spPr>
          <a:xfrm>
            <a:off x="7772400" y="393192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03</a:t>
            </a:r>
            <a:endParaRPr lang="en-US" sz="1800" dirty="0"/>
          </a:p>
        </p:txBody>
      </p:sp>
      <p:sp>
        <p:nvSpPr>
          <p:cNvPr id="16" name="Poin 3"/>
          <p:cNvSpPr txBox="1"/>
          <p:nvPr/>
        </p:nvSpPr>
        <p:spPr>
          <a:xfrm>
            <a:off x="8366760" y="3931920"/>
            <a:ext cx="2971800" cy="941832"/>
          </a:xfrm>
          <a:prstGeom prst="rect">
            <a:avLst/>
          </a:prstGeom>
          <a:noFill/>
          <a:ln/>
        </p:spPr>
        <p:txBody>
          <a:bodyPr wrap="square" lIns="0" tIns="0" rIns="0" bIns="0" rtlCol="0" anchor="t"/>
          <a:lstStyle/>
          <a:p>
            <a:pPr indent="0" marL="0">
              <a:buNone/>
            </a:pPr>
            <a:r>
              <a:rPr lang="en-US" sz="1500" b="1" dirty="0">
                <a:solidFill>
                  <a:schemeClr val="tx2"/>
                </a:solidFill>
              </a:rPr>
              <a:t>Bukan pinjol</a:t>
            </a:r>
            <a:endParaRPr lang="en-US" sz="1500" dirty="0"/>
          </a:p>
          <a:p>
            <a:pPr indent="0" marL="0">
              <a:buNone/>
            </a:pPr>
            <a:r>
              <a:rPr lang="en-US" sz="1500" dirty="0">
                <a:solidFill>
                  <a:schemeClr val="tx1"/>
                </a:solidFill>
              </a:rPr>
              <a:t>bagian khusus yang menjelaskan perbedaannya</a:t>
            </a:r>
            <a:endParaRPr lang="en-US" sz="1500" dirty="0"/>
          </a:p>
        </p:txBody>
      </p:sp>
      <p:sp>
        <p:nvSpPr>
          <p:cNvPr id="17" name="Nomor 4"/>
          <p:cNvSpPr txBox="1"/>
          <p:nvPr/>
        </p:nvSpPr>
        <p:spPr>
          <a:xfrm>
            <a:off x="7772400" y="498348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04</a:t>
            </a:r>
            <a:endParaRPr lang="en-US" sz="1800" dirty="0"/>
          </a:p>
        </p:txBody>
      </p:sp>
      <p:sp>
        <p:nvSpPr>
          <p:cNvPr id="18" name="Poin 4"/>
          <p:cNvSpPr txBox="1"/>
          <p:nvPr/>
        </p:nvSpPr>
        <p:spPr>
          <a:xfrm>
            <a:off x="8366760" y="4983480"/>
            <a:ext cx="2971800" cy="941832"/>
          </a:xfrm>
          <a:prstGeom prst="rect">
            <a:avLst/>
          </a:prstGeom>
          <a:noFill/>
          <a:ln/>
        </p:spPr>
        <p:txBody>
          <a:bodyPr wrap="square" lIns="0" tIns="0" rIns="0" bIns="0" rtlCol="0" anchor="t"/>
          <a:lstStyle/>
          <a:p>
            <a:pPr indent="0" marL="0">
              <a:buNone/>
            </a:pPr>
            <a:r>
              <a:rPr lang="en-US" sz="1500" b="1" dirty="0">
                <a:solidFill>
                  <a:schemeClr val="tx2"/>
                </a:solidFill>
              </a:rPr>
              <a:t>Konten lengkap</a:t>
            </a:r>
            <a:endParaRPr lang="en-US" sz="1500" dirty="0"/>
          </a:p>
          <a:p>
            <a:pPr indent="0" marL="0">
              <a:buNone/>
            </a:pPr>
            <a:r>
              <a:rPr lang="en-US" sz="1500" dirty="0">
                <a:solidFill>
                  <a:schemeClr val="tx1"/>
                </a:solidFill>
              </a:rPr>
              <a:t>tentang, FAQ, berita, galeri, mitra, kantor</a:t>
            </a:r>
            <a:endParaRPr lang="en-US" sz="15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TAMPILAN PUBLIK</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Simulasi cicilan yang transparan</a:t>
            </a:r>
            <a:endParaRPr lang="en-US" sz="3200" dirty="0"/>
          </a:p>
        </p:txBody>
      </p:sp>
      <p:sp>
        <p:nvSpPr>
          <p:cNvPr id="4" name="Panel simulasi"/>
          <p:cNvSpPr/>
          <p:nvPr/>
        </p:nvSpPr>
        <p:spPr>
          <a:xfrm>
            <a:off x="822960" y="1783080"/>
            <a:ext cx="6583680" cy="4343400"/>
          </a:xfrm>
          <a:prstGeom prst="roundRect">
            <a:avLst>
              <a:gd name="adj" fmla="val 4211"/>
            </a:avLst>
          </a:prstGeom>
          <a:solidFill>
            <a:schemeClr val="bg2"/>
          </a:solidFill>
          <a:ln/>
        </p:spPr>
      </p:sp>
      <p:sp>
        <p:nvSpPr>
          <p:cNvPr id="5" name="Jendela simulasi pinjaman"/>
          <p:cNvSpPr/>
          <p:nvPr/>
        </p:nvSpPr>
        <p:spPr>
          <a:xfrm>
            <a:off x="1143000" y="2148840"/>
            <a:ext cx="5943600" cy="3989070"/>
          </a:xfrm>
          <a:prstGeom prst="roundRect">
            <a:avLst>
              <a:gd name="adj" fmla="val 1834"/>
            </a:avLst>
          </a:prstGeom>
          <a:solidFill>
            <a:srgbClr val="FFFFFF"/>
          </a:solidFill>
          <a:ln w="12700">
            <a:solidFill>
              <a:srgbClr val="CBD5E1"/>
            </a:solidFill>
            <a:prstDash val="solid"/>
          </a:ln>
          <a:effectLst>
            <a:outerShdw sx="100000" sy="100000" kx="0" ky="0" algn="bl" rotWithShape="0" blurRad="152400" dist="50800" dir="5400000">
              <a:srgbClr val="0B1437">
                <a:alpha val="18000"/>
              </a:srgbClr>
            </a:outerShdw>
          </a:effectLst>
        </p:spPr>
      </p:sp>
      <p:sp>
        <p:nvSpPr>
          <p:cNvPr id="6" name="Bilah simulasi pinjaman"/>
          <p:cNvSpPr/>
          <p:nvPr/>
        </p:nvSpPr>
        <p:spPr>
          <a:xfrm>
            <a:off x="1152144" y="2157984"/>
            <a:ext cx="5925312" cy="265176"/>
          </a:xfrm>
          <a:prstGeom prst="rect">
            <a:avLst/>
          </a:prstGeom>
          <a:solidFill>
            <a:srgbClr val="E2E8F0"/>
          </a:solidFill>
          <a:ln/>
        </p:spPr>
      </p:sp>
      <p:sp>
        <p:nvSpPr>
          <p:cNvPr id="7" name="Titik 0"/>
          <p:cNvSpPr/>
          <p:nvPr/>
        </p:nvSpPr>
        <p:spPr>
          <a:xfrm>
            <a:off x="1271016" y="2231136"/>
            <a:ext cx="109728" cy="109728"/>
          </a:xfrm>
          <a:prstGeom prst="ellipse">
            <a:avLst/>
          </a:prstGeom>
          <a:solidFill>
            <a:srgbClr val="F87171"/>
          </a:solidFill>
          <a:ln/>
        </p:spPr>
      </p:sp>
      <p:sp>
        <p:nvSpPr>
          <p:cNvPr id="8" name="Titik 1"/>
          <p:cNvSpPr/>
          <p:nvPr/>
        </p:nvSpPr>
        <p:spPr>
          <a:xfrm>
            <a:off x="1453896" y="2231136"/>
            <a:ext cx="109728" cy="109728"/>
          </a:xfrm>
          <a:prstGeom prst="ellipse">
            <a:avLst/>
          </a:prstGeom>
          <a:solidFill>
            <a:srgbClr val="FBBF24"/>
          </a:solidFill>
          <a:ln/>
        </p:spPr>
      </p:sp>
      <p:sp>
        <p:nvSpPr>
          <p:cNvPr id="9" name="Titik 2"/>
          <p:cNvSpPr/>
          <p:nvPr/>
        </p:nvSpPr>
        <p:spPr>
          <a:xfrm>
            <a:off x="1636776" y="2231136"/>
            <a:ext cx="109728" cy="109728"/>
          </a:xfrm>
          <a:prstGeom prst="ellipse">
            <a:avLst/>
          </a:prstGeom>
          <a:solidFill>
            <a:srgbClr val="4ADE80"/>
          </a:solidFill>
          <a:ln/>
        </p:spPr>
      </p:sp>
      <p:pic>
        <p:nvPicPr>
          <p:cNvPr id="10" name="Layar simulasi pinjaman" descr="Tampilan desktop: simulasi pinjaman">    </p:cNvPr>
          <p:cNvPicPr>
            <a:picLocks noChangeAspect="1"/>
          </p:cNvPicPr>
          <p:nvPr/>
        </p:nvPicPr>
        <p:blipFill>
          <a:blip r:embed="rId1"/>
          <a:stretch>
            <a:fillRect/>
          </a:stretch>
        </p:blipFill>
        <p:spPr>
          <a:xfrm>
            <a:off x="1152144" y="2423160"/>
            <a:ext cx="5925312" cy="3705606"/>
          </a:xfrm>
          <a:prstGeom prst="rect">
            <a:avLst/>
          </a:prstGeom>
        </p:spPr>
      </p:pic>
      <p:sp>
        <p:nvSpPr>
          <p:cNvPr id="11" name="Nomor 1"/>
          <p:cNvSpPr txBox="1"/>
          <p:nvPr/>
        </p:nvSpPr>
        <p:spPr>
          <a:xfrm>
            <a:off x="7772400" y="18288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12" name="Poin 1"/>
          <p:cNvSpPr txBox="1"/>
          <p:nvPr/>
        </p:nvSpPr>
        <p:spPr>
          <a:xfrm>
            <a:off x="8366760" y="1828800"/>
            <a:ext cx="2971800" cy="941832"/>
          </a:xfrm>
          <a:prstGeom prst="rect">
            <a:avLst/>
          </a:prstGeom>
          <a:noFill/>
          <a:ln/>
        </p:spPr>
        <p:txBody>
          <a:bodyPr wrap="square" lIns="0" tIns="0" rIns="0" bIns="0" rtlCol="0" anchor="t"/>
          <a:lstStyle/>
          <a:p>
            <a:pPr indent="0" marL="0">
              <a:buNone/>
            </a:pPr>
            <a:r>
              <a:rPr lang="en-US" sz="1500" b="1" dirty="0">
                <a:solidFill>
                  <a:schemeClr val="tx2"/>
                </a:solidFill>
              </a:rPr>
              <a:t>Bunga per tahun</a:t>
            </a:r>
            <a:endParaRPr lang="en-US" sz="1500" dirty="0"/>
          </a:p>
          <a:p>
            <a:pPr indent="0" marL="0">
              <a:buNone/>
            </a:pPr>
            <a:r>
              <a:rPr lang="en-US" sz="1500" dirty="0">
                <a:solidFill>
                  <a:schemeClr val="tx1"/>
                </a:solidFill>
              </a:rPr>
              <a:t>tidak pernah per hari</a:t>
            </a:r>
            <a:endParaRPr lang="en-US" sz="1500" dirty="0"/>
          </a:p>
        </p:txBody>
      </p:sp>
      <p:sp>
        <p:nvSpPr>
          <p:cNvPr id="13" name="Nomor 2"/>
          <p:cNvSpPr txBox="1"/>
          <p:nvPr/>
        </p:nvSpPr>
        <p:spPr>
          <a:xfrm>
            <a:off x="7772400" y="288036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14" name="Poin 2"/>
          <p:cNvSpPr txBox="1"/>
          <p:nvPr/>
        </p:nvSpPr>
        <p:spPr>
          <a:xfrm>
            <a:off x="8366760" y="2880360"/>
            <a:ext cx="2971800" cy="941832"/>
          </a:xfrm>
          <a:prstGeom prst="rect">
            <a:avLst/>
          </a:prstGeom>
          <a:noFill/>
          <a:ln/>
        </p:spPr>
        <p:txBody>
          <a:bodyPr wrap="square" lIns="0" tIns="0" rIns="0" bIns="0" rtlCol="0" anchor="t"/>
          <a:lstStyle/>
          <a:p>
            <a:pPr indent="0" marL="0">
              <a:buNone/>
            </a:pPr>
            <a:r>
              <a:rPr lang="en-US" sz="1500" b="1" dirty="0">
                <a:solidFill>
                  <a:schemeClr val="tx2"/>
                </a:solidFill>
              </a:rPr>
              <a:t>Bunga efektif</a:t>
            </a:r>
            <a:endParaRPr lang="en-US" sz="1500" dirty="0"/>
          </a:p>
          <a:p>
            <a:pPr indent="0" marL="0">
              <a:buNone/>
            </a:pPr>
            <a:r>
              <a:rPr lang="en-US" sz="1500" dirty="0">
                <a:solidFill>
                  <a:schemeClr val="tx1"/>
                </a:solidFill>
              </a:rPr>
              <a:t>sudah termasuk biaya administrasi</a:t>
            </a:r>
            <a:endParaRPr lang="en-US" sz="1500" dirty="0"/>
          </a:p>
        </p:txBody>
      </p:sp>
      <p:sp>
        <p:nvSpPr>
          <p:cNvPr id="15" name="Nomor 3"/>
          <p:cNvSpPr txBox="1"/>
          <p:nvPr/>
        </p:nvSpPr>
        <p:spPr>
          <a:xfrm>
            <a:off x="7772400" y="393192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03</a:t>
            </a:r>
            <a:endParaRPr lang="en-US" sz="1800" dirty="0"/>
          </a:p>
        </p:txBody>
      </p:sp>
      <p:sp>
        <p:nvSpPr>
          <p:cNvPr id="16" name="Poin 3"/>
          <p:cNvSpPr txBox="1"/>
          <p:nvPr/>
        </p:nvSpPr>
        <p:spPr>
          <a:xfrm>
            <a:off x="8366760" y="3931920"/>
            <a:ext cx="2971800" cy="941832"/>
          </a:xfrm>
          <a:prstGeom prst="rect">
            <a:avLst/>
          </a:prstGeom>
          <a:noFill/>
          <a:ln/>
        </p:spPr>
        <p:txBody>
          <a:bodyPr wrap="square" lIns="0" tIns="0" rIns="0" bIns="0" rtlCol="0" anchor="t"/>
          <a:lstStyle/>
          <a:p>
            <a:pPr indent="0" marL="0">
              <a:buNone/>
            </a:pPr>
            <a:r>
              <a:rPr lang="en-US" sz="1500" b="1" dirty="0">
                <a:solidFill>
                  <a:schemeClr val="tx2"/>
                </a:solidFill>
              </a:rPr>
              <a:t>Tiga metode</a:t>
            </a:r>
            <a:endParaRPr lang="en-US" sz="1500" dirty="0"/>
          </a:p>
          <a:p>
            <a:pPr indent="0" marL="0">
              <a:buNone/>
            </a:pPr>
            <a:r>
              <a:rPr lang="en-US" sz="1500" dirty="0">
                <a:solidFill>
                  <a:schemeClr val="tx1"/>
                </a:solidFill>
              </a:rPr>
              <a:t>flat, menurun, dan anuitas</a:t>
            </a:r>
            <a:endParaRPr lang="en-US" sz="1500" dirty="0"/>
          </a:p>
        </p:txBody>
      </p:sp>
      <p:sp>
        <p:nvSpPr>
          <p:cNvPr id="17" name="Nomor 4"/>
          <p:cNvSpPr txBox="1"/>
          <p:nvPr/>
        </p:nvSpPr>
        <p:spPr>
          <a:xfrm>
            <a:off x="7772400" y="498348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04</a:t>
            </a:r>
            <a:endParaRPr lang="en-US" sz="1800" dirty="0"/>
          </a:p>
        </p:txBody>
      </p:sp>
      <p:sp>
        <p:nvSpPr>
          <p:cNvPr id="18" name="Poin 4"/>
          <p:cNvSpPr txBox="1"/>
          <p:nvPr/>
        </p:nvSpPr>
        <p:spPr>
          <a:xfrm>
            <a:off x="8366760" y="4983480"/>
            <a:ext cx="2971800" cy="941832"/>
          </a:xfrm>
          <a:prstGeom prst="rect">
            <a:avLst/>
          </a:prstGeom>
          <a:noFill/>
          <a:ln/>
        </p:spPr>
        <p:txBody>
          <a:bodyPr wrap="square" lIns="0" tIns="0" rIns="0" bIns="0" rtlCol="0" anchor="t"/>
          <a:lstStyle/>
          <a:p>
            <a:pPr indent="0" marL="0">
              <a:buNone/>
            </a:pPr>
            <a:r>
              <a:rPr lang="en-US" sz="1500" b="1" dirty="0">
                <a:solidFill>
                  <a:schemeClr val="tx2"/>
                </a:solidFill>
              </a:rPr>
              <a:t>Dihitung di server</a:t>
            </a:r>
            <a:endParaRPr lang="en-US" sz="1500" dirty="0"/>
          </a:p>
          <a:p>
            <a:pPr indent="0" marL="0">
              <a:buNone/>
            </a:pPr>
            <a:r>
              <a:rPr lang="en-US" sz="1500" dirty="0">
                <a:solidFill>
                  <a:schemeClr val="tx1"/>
                </a:solidFill>
              </a:rPr>
              <a:t>tidak bisa dimanipulasi dari browser</a:t>
            </a:r>
            <a:endParaRPr lang="en-US" sz="15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TAMPILAN ANGGOTA</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Pendaftaran dan login</a:t>
            </a:r>
            <a:endParaRPr lang="en-US" sz="3200" dirty="0"/>
          </a:p>
        </p:txBody>
      </p:sp>
      <p:sp>
        <p:nvSpPr>
          <p:cNvPr id="4" name="Panel Pendaftaran dan login"/>
          <p:cNvSpPr/>
          <p:nvPr/>
        </p:nvSpPr>
        <p:spPr>
          <a:xfrm>
            <a:off x="822960" y="1783080"/>
            <a:ext cx="5486400" cy="4343400"/>
          </a:xfrm>
          <a:prstGeom prst="roundRect">
            <a:avLst>
              <a:gd name="adj" fmla="val 4211"/>
            </a:avLst>
          </a:prstGeom>
          <a:solidFill>
            <a:schemeClr val="bg2"/>
          </a:solidFill>
          <a:ln/>
        </p:spPr>
      </p:sp>
      <p:sp>
        <p:nvSpPr>
          <p:cNvPr id="5" name="Bingkai HP pendaftaran"/>
          <p:cNvSpPr/>
          <p:nvPr/>
        </p:nvSpPr>
        <p:spPr>
          <a:xfrm>
            <a:off x="1051560" y="2011680"/>
            <a:ext cx="1864673" cy="3886200"/>
          </a:xfrm>
          <a:prstGeom prst="roundRect">
            <a:avLst>
              <a:gd name="adj" fmla="val 10788"/>
            </a:avLst>
          </a:prstGeom>
          <a:solidFill>
            <a:srgbClr val="0B1437"/>
          </a:solidFill>
          <a:ln w="12700">
            <a:solidFill>
              <a:srgbClr val="334155"/>
            </a:solidFill>
            <a:prstDash val="solid"/>
          </a:ln>
          <a:effectLst>
            <a:outerShdw sx="100000" sy="100000" kx="0" ky="0" algn="bl" rotWithShape="0" blurRad="152400" dist="50800" dir="5400000">
              <a:srgbClr val="000000">
                <a:alpha val="30000"/>
              </a:srgbClr>
            </a:outerShdw>
          </a:effectLst>
        </p:spPr>
      </p:sp>
      <p:pic>
        <p:nvPicPr>
          <p:cNvPr id="6" name="Layar HP pendaftaran" descr="Tampilan HP: pendaftaran">    </p:cNvPr>
          <p:cNvPicPr>
            <a:picLocks noChangeAspect="1"/>
          </p:cNvPicPr>
          <p:nvPr/>
        </p:nvPicPr>
        <p:blipFill>
          <a:blip r:embed="rId1"/>
          <a:stretch>
            <a:fillRect/>
          </a:stretch>
        </p:blipFill>
        <p:spPr>
          <a:xfrm>
            <a:off x="1115568" y="2075688"/>
            <a:ext cx="1736657" cy="3758184"/>
          </a:xfrm>
          <a:prstGeom prst="rect">
            <a:avLst/>
          </a:prstGeom>
        </p:spPr>
      </p:pic>
      <p:sp>
        <p:nvSpPr>
          <p:cNvPr id="7" name="Bingkai HP login"/>
          <p:cNvSpPr/>
          <p:nvPr/>
        </p:nvSpPr>
        <p:spPr>
          <a:xfrm>
            <a:off x="3190553" y="2011680"/>
            <a:ext cx="1864673" cy="3886200"/>
          </a:xfrm>
          <a:prstGeom prst="roundRect">
            <a:avLst>
              <a:gd name="adj" fmla="val 10788"/>
            </a:avLst>
          </a:prstGeom>
          <a:solidFill>
            <a:srgbClr val="0B1437"/>
          </a:solidFill>
          <a:ln w="12700">
            <a:solidFill>
              <a:srgbClr val="334155"/>
            </a:solidFill>
            <a:prstDash val="solid"/>
          </a:ln>
          <a:effectLst>
            <a:outerShdw sx="100000" sy="100000" kx="0" ky="0" algn="bl" rotWithShape="0" blurRad="152400" dist="50800" dir="5400000">
              <a:srgbClr val="000000">
                <a:alpha val="30000"/>
              </a:srgbClr>
            </a:outerShdw>
          </a:effectLst>
        </p:spPr>
      </p:sp>
      <p:pic>
        <p:nvPicPr>
          <p:cNvPr id="8" name="Layar HP login" descr="Tampilan HP: login">    </p:cNvPr>
          <p:cNvPicPr>
            <a:picLocks noChangeAspect="1"/>
          </p:cNvPicPr>
          <p:nvPr/>
        </p:nvPicPr>
        <p:blipFill>
          <a:blip r:embed="rId2"/>
          <a:stretch>
            <a:fillRect/>
          </a:stretch>
        </p:blipFill>
        <p:spPr>
          <a:xfrm>
            <a:off x="3254561" y="2075688"/>
            <a:ext cx="1736657" cy="3758184"/>
          </a:xfrm>
          <a:prstGeom prst="rect">
            <a:avLst/>
          </a:prstGeom>
        </p:spPr>
      </p:pic>
      <p:sp>
        <p:nvSpPr>
          <p:cNvPr id="9" name="Nomor 1"/>
          <p:cNvSpPr txBox="1"/>
          <p:nvPr/>
        </p:nvSpPr>
        <p:spPr>
          <a:xfrm>
            <a:off x="6858000" y="18288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10" name="Poin 1"/>
          <p:cNvSpPr txBox="1"/>
          <p:nvPr/>
        </p:nvSpPr>
        <p:spPr>
          <a:xfrm>
            <a:off x="7452360" y="18288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KTP wajib</a:t>
            </a:r>
            <a:endParaRPr lang="en-US" sz="1500" dirty="0"/>
          </a:p>
          <a:p>
            <a:pPr indent="0" marL="0">
              <a:buNone/>
            </a:pPr>
            <a:r>
              <a:rPr lang="en-US" sz="1500" dirty="0">
                <a:solidFill>
                  <a:schemeClr val="tx1"/>
                </a:solidFill>
              </a:rPr>
              <a:t>diverifikasi pengurus sebelum akun aktif penuh</a:t>
            </a:r>
            <a:endParaRPr lang="en-US" sz="1500" dirty="0"/>
          </a:p>
        </p:txBody>
      </p:sp>
      <p:sp>
        <p:nvSpPr>
          <p:cNvPr id="11" name="Nomor 2"/>
          <p:cNvSpPr txBox="1"/>
          <p:nvPr/>
        </p:nvSpPr>
        <p:spPr>
          <a:xfrm>
            <a:off x="6858000" y="27432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12" name="Poin 2"/>
          <p:cNvSpPr txBox="1"/>
          <p:nvPr/>
        </p:nvSpPr>
        <p:spPr>
          <a:xfrm>
            <a:off x="7452360" y="27432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3 persetujuan data</a:t>
            </a:r>
            <a:endParaRPr lang="en-US" sz="1500" dirty="0"/>
          </a:p>
          <a:p>
            <a:pPr indent="0" marL="0">
              <a:buNone/>
            </a:pPr>
            <a:r>
              <a:rPr lang="en-US" sz="1500" dirty="0">
                <a:solidFill>
                  <a:schemeClr val="tx1"/>
                </a:solidFill>
              </a:rPr>
              <a:t>tercatat dengan versi, waktu, dan IP</a:t>
            </a:r>
            <a:endParaRPr lang="en-US" sz="1500" dirty="0"/>
          </a:p>
        </p:txBody>
      </p:sp>
      <p:sp>
        <p:nvSpPr>
          <p:cNvPr id="13" name="Nomor 3"/>
          <p:cNvSpPr txBox="1"/>
          <p:nvPr/>
        </p:nvSpPr>
        <p:spPr>
          <a:xfrm>
            <a:off x="6858000" y="36576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03</a:t>
            </a:r>
            <a:endParaRPr lang="en-US" sz="1800" dirty="0"/>
          </a:p>
        </p:txBody>
      </p:sp>
      <p:sp>
        <p:nvSpPr>
          <p:cNvPr id="14" name="Poin 3"/>
          <p:cNvSpPr txBox="1"/>
          <p:nvPr/>
        </p:nvSpPr>
        <p:spPr>
          <a:xfrm>
            <a:off x="7452360" y="36576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Login aman</a:t>
            </a:r>
            <a:endParaRPr lang="en-US" sz="1500" dirty="0"/>
          </a:p>
          <a:p>
            <a:pPr indent="0" marL="0">
              <a:buNone/>
            </a:pPr>
            <a:r>
              <a:rPr lang="en-US" sz="1500" dirty="0">
                <a:solidFill>
                  <a:schemeClr val="tx1"/>
                </a:solidFill>
              </a:rPr>
              <a:t>password di-hash, dikunci 15 menit setelah 5 kali gagal</a:t>
            </a:r>
            <a:endParaRPr lang="en-US" sz="1500" dirty="0"/>
          </a:p>
        </p:txBody>
      </p:sp>
      <p:sp>
        <p:nvSpPr>
          <p:cNvPr id="15" name="Nomor 4"/>
          <p:cNvSpPr txBox="1"/>
          <p:nvPr/>
        </p:nvSpPr>
        <p:spPr>
          <a:xfrm>
            <a:off x="6858000" y="45720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04</a:t>
            </a:r>
            <a:endParaRPr lang="en-US" sz="1800" dirty="0"/>
          </a:p>
        </p:txBody>
      </p:sp>
      <p:sp>
        <p:nvSpPr>
          <p:cNvPr id="16" name="Poin 4"/>
          <p:cNvSpPr txBox="1"/>
          <p:nvPr/>
        </p:nvSpPr>
        <p:spPr>
          <a:xfrm>
            <a:off x="7452360" y="45720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Sesi 30 menit</a:t>
            </a:r>
            <a:endParaRPr lang="en-US" sz="1500" dirty="0"/>
          </a:p>
          <a:p>
            <a:pPr indent="0" marL="0">
              <a:buNone/>
            </a:pPr>
            <a:r>
              <a:rPr lang="en-US" sz="1500" dirty="0">
                <a:solidFill>
                  <a:schemeClr val="tx1"/>
                </a:solidFill>
              </a:rPr>
              <a:t>berakhir bila tidak ada aktivitas</a:t>
            </a:r>
            <a:endParaRPr lang="en-US" sz="1500" dirty="0"/>
          </a:p>
        </p:txBody>
      </p:sp>
      <p:sp>
        <p:nvSpPr>
          <p:cNvPr id="17" name="Nomor 5"/>
          <p:cNvSpPr txBox="1"/>
          <p:nvPr/>
        </p:nvSpPr>
        <p:spPr>
          <a:xfrm>
            <a:off x="6858000" y="54864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05</a:t>
            </a:r>
            <a:endParaRPr lang="en-US" sz="1800" dirty="0"/>
          </a:p>
        </p:txBody>
      </p:sp>
      <p:sp>
        <p:nvSpPr>
          <p:cNvPr id="18" name="Poin 5"/>
          <p:cNvSpPr txBox="1"/>
          <p:nvPr/>
        </p:nvSpPr>
        <p:spPr>
          <a:xfrm>
            <a:off x="7452360" y="54864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Google atau Apple</a:t>
            </a:r>
            <a:endParaRPr lang="en-US" sz="1500" dirty="0"/>
          </a:p>
          <a:p>
            <a:pPr indent="0" marL="0">
              <a:buNone/>
            </a:pPr>
            <a:r>
              <a:rPr lang="en-US" sz="1500" dirty="0">
                <a:solidFill>
                  <a:schemeClr val="tx1"/>
                </a:solidFill>
              </a:rPr>
              <a:t>opsional, hanya untuk anggota terdaftar</a:t>
            </a:r>
            <a:endParaRPr lang="en-US" sz="15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TAMPILAN ANGGOTA</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Portal anggota</a:t>
            </a:r>
            <a:endParaRPr lang="en-US" sz="3200" dirty="0"/>
          </a:p>
        </p:txBody>
      </p:sp>
      <p:sp>
        <p:nvSpPr>
          <p:cNvPr id="4" name="Panel Portal anggota"/>
          <p:cNvSpPr/>
          <p:nvPr/>
        </p:nvSpPr>
        <p:spPr>
          <a:xfrm>
            <a:off x="822960" y="1783080"/>
            <a:ext cx="5486400" cy="4343400"/>
          </a:xfrm>
          <a:prstGeom prst="roundRect">
            <a:avLst>
              <a:gd name="adj" fmla="val 4211"/>
            </a:avLst>
          </a:prstGeom>
          <a:solidFill>
            <a:schemeClr val="bg2"/>
          </a:solidFill>
          <a:ln/>
        </p:spPr>
      </p:sp>
      <p:sp>
        <p:nvSpPr>
          <p:cNvPr id="5" name="Bingkai HP dashboard anggota"/>
          <p:cNvSpPr/>
          <p:nvPr/>
        </p:nvSpPr>
        <p:spPr>
          <a:xfrm>
            <a:off x="1051560" y="2011680"/>
            <a:ext cx="1864673" cy="3886200"/>
          </a:xfrm>
          <a:prstGeom prst="roundRect">
            <a:avLst>
              <a:gd name="adj" fmla="val 10788"/>
            </a:avLst>
          </a:prstGeom>
          <a:solidFill>
            <a:srgbClr val="0B1437"/>
          </a:solidFill>
          <a:ln w="12700">
            <a:solidFill>
              <a:srgbClr val="334155"/>
            </a:solidFill>
            <a:prstDash val="solid"/>
          </a:ln>
          <a:effectLst>
            <a:outerShdw sx="100000" sy="100000" kx="0" ky="0" algn="bl" rotWithShape="0" blurRad="152400" dist="50800" dir="5400000">
              <a:srgbClr val="000000">
                <a:alpha val="30000"/>
              </a:srgbClr>
            </a:outerShdw>
          </a:effectLst>
        </p:spPr>
      </p:sp>
      <p:pic>
        <p:nvPicPr>
          <p:cNvPr id="6" name="Layar HP dashboard anggota" descr="Tampilan HP: dashboard anggota">    </p:cNvPr>
          <p:cNvPicPr>
            <a:picLocks noChangeAspect="1"/>
          </p:cNvPicPr>
          <p:nvPr/>
        </p:nvPicPr>
        <p:blipFill>
          <a:blip r:embed="rId1"/>
          <a:stretch>
            <a:fillRect/>
          </a:stretch>
        </p:blipFill>
        <p:spPr>
          <a:xfrm>
            <a:off x="1115568" y="2075688"/>
            <a:ext cx="1736657" cy="3758184"/>
          </a:xfrm>
          <a:prstGeom prst="rect">
            <a:avLst/>
          </a:prstGeom>
        </p:spPr>
      </p:pic>
      <p:sp>
        <p:nvSpPr>
          <p:cNvPr id="7" name="Bingkai HP profil anggota"/>
          <p:cNvSpPr/>
          <p:nvPr/>
        </p:nvSpPr>
        <p:spPr>
          <a:xfrm>
            <a:off x="3190553" y="2011680"/>
            <a:ext cx="1864673" cy="3886200"/>
          </a:xfrm>
          <a:prstGeom prst="roundRect">
            <a:avLst>
              <a:gd name="adj" fmla="val 10788"/>
            </a:avLst>
          </a:prstGeom>
          <a:solidFill>
            <a:srgbClr val="0B1437"/>
          </a:solidFill>
          <a:ln w="12700">
            <a:solidFill>
              <a:srgbClr val="334155"/>
            </a:solidFill>
            <a:prstDash val="solid"/>
          </a:ln>
          <a:effectLst>
            <a:outerShdw sx="100000" sy="100000" kx="0" ky="0" algn="bl" rotWithShape="0" blurRad="152400" dist="50800" dir="5400000">
              <a:srgbClr val="000000">
                <a:alpha val="30000"/>
              </a:srgbClr>
            </a:outerShdw>
          </a:effectLst>
        </p:spPr>
      </p:sp>
      <p:pic>
        <p:nvPicPr>
          <p:cNvPr id="8" name="Layar HP profil anggota" descr="Tampilan HP: profil anggota">    </p:cNvPr>
          <p:cNvPicPr>
            <a:picLocks noChangeAspect="1"/>
          </p:cNvPicPr>
          <p:nvPr/>
        </p:nvPicPr>
        <p:blipFill>
          <a:blip r:embed="rId2"/>
          <a:stretch>
            <a:fillRect/>
          </a:stretch>
        </p:blipFill>
        <p:spPr>
          <a:xfrm>
            <a:off x="3254561" y="2075688"/>
            <a:ext cx="1736657" cy="3758184"/>
          </a:xfrm>
          <a:prstGeom prst="rect">
            <a:avLst/>
          </a:prstGeom>
        </p:spPr>
      </p:pic>
      <p:sp>
        <p:nvSpPr>
          <p:cNvPr id="9" name="Nomor 1"/>
          <p:cNvSpPr txBox="1"/>
          <p:nvPr/>
        </p:nvSpPr>
        <p:spPr>
          <a:xfrm>
            <a:off x="6858000" y="18288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10" name="Poin 1"/>
          <p:cNvSpPr txBox="1"/>
          <p:nvPr/>
        </p:nvSpPr>
        <p:spPr>
          <a:xfrm>
            <a:off x="7452360" y="18288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Ringkasan</a:t>
            </a:r>
            <a:endParaRPr lang="en-US" sz="1500" dirty="0"/>
          </a:p>
          <a:p>
            <a:pPr indent="0" marL="0">
              <a:buNone/>
            </a:pPr>
            <a:r>
              <a:rPr lang="en-US" sz="1500" dirty="0">
                <a:solidFill>
                  <a:schemeClr val="tx1"/>
                </a:solidFill>
              </a:rPr>
              <a:t>total simpanan, pinjaman aktif, angsuran berikutnya</a:t>
            </a:r>
            <a:endParaRPr lang="en-US" sz="1500" dirty="0"/>
          </a:p>
        </p:txBody>
      </p:sp>
      <p:sp>
        <p:nvSpPr>
          <p:cNvPr id="11" name="Nomor 2"/>
          <p:cNvSpPr txBox="1"/>
          <p:nvPr/>
        </p:nvSpPr>
        <p:spPr>
          <a:xfrm>
            <a:off x="6858000" y="27432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12" name="Poin 2"/>
          <p:cNvSpPr txBox="1"/>
          <p:nvPr/>
        </p:nvSpPr>
        <p:spPr>
          <a:xfrm>
            <a:off x="7452360" y="27432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Tiga simpanan</a:t>
            </a:r>
            <a:endParaRPr lang="en-US" sz="1500" dirty="0"/>
          </a:p>
          <a:p>
            <a:pPr indent="0" marL="0">
              <a:buNone/>
            </a:pPr>
            <a:r>
              <a:rPr lang="en-US" sz="1500" dirty="0">
                <a:solidFill>
                  <a:schemeClr val="tx1"/>
                </a:solidFill>
              </a:rPr>
              <a:t>pokok, wajib, dan sukarela terpisah</a:t>
            </a:r>
            <a:endParaRPr lang="en-US" sz="1500" dirty="0"/>
          </a:p>
        </p:txBody>
      </p:sp>
      <p:sp>
        <p:nvSpPr>
          <p:cNvPr id="13" name="Nomor 3"/>
          <p:cNvSpPr txBox="1"/>
          <p:nvPr/>
        </p:nvSpPr>
        <p:spPr>
          <a:xfrm>
            <a:off x="6858000" y="36576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03</a:t>
            </a:r>
            <a:endParaRPr lang="en-US" sz="1800" dirty="0"/>
          </a:p>
        </p:txBody>
      </p:sp>
      <p:sp>
        <p:nvSpPr>
          <p:cNvPr id="14" name="Poin 3"/>
          <p:cNvSpPr txBox="1"/>
          <p:nvPr/>
        </p:nvSpPr>
        <p:spPr>
          <a:xfrm>
            <a:off x="7452360" y="36576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Notifikasi</a:t>
            </a:r>
            <a:endParaRPr lang="en-US" sz="1500" dirty="0"/>
          </a:p>
          <a:p>
            <a:pPr indent="0" marL="0">
              <a:buNone/>
            </a:pPr>
            <a:r>
              <a:rPr lang="en-US" sz="1500" dirty="0">
                <a:solidFill>
                  <a:schemeClr val="tx1"/>
                </a:solidFill>
              </a:rPr>
              <a:t>lonceng dan email</a:t>
            </a:r>
            <a:endParaRPr lang="en-US" sz="1500" dirty="0"/>
          </a:p>
        </p:txBody>
      </p:sp>
      <p:sp>
        <p:nvSpPr>
          <p:cNvPr id="15" name="Nomor 4"/>
          <p:cNvSpPr txBox="1"/>
          <p:nvPr/>
        </p:nvSpPr>
        <p:spPr>
          <a:xfrm>
            <a:off x="6858000" y="45720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04</a:t>
            </a:r>
            <a:endParaRPr lang="en-US" sz="1800" dirty="0"/>
          </a:p>
        </p:txBody>
      </p:sp>
      <p:sp>
        <p:nvSpPr>
          <p:cNvPr id="16" name="Poin 4"/>
          <p:cNvSpPr txBox="1"/>
          <p:nvPr/>
        </p:nvSpPr>
        <p:spPr>
          <a:xfrm>
            <a:off x="7452360" y="45720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Profil</a:t>
            </a:r>
            <a:endParaRPr lang="en-US" sz="1500" dirty="0"/>
          </a:p>
          <a:p>
            <a:pPr indent="0" marL="0">
              <a:buNone/>
            </a:pPr>
            <a:r>
              <a:rPr lang="en-US" sz="1500" dirty="0">
                <a:solidFill>
                  <a:schemeClr val="tx1"/>
                </a:solidFill>
              </a:rPr>
              <a:t>status KTP, NIK disamarkan</a:t>
            </a:r>
            <a:endParaRPr lang="en-US" sz="1500" dirty="0"/>
          </a:p>
        </p:txBody>
      </p:sp>
      <p:sp>
        <p:nvSpPr>
          <p:cNvPr id="17" name="Nomor 5"/>
          <p:cNvSpPr txBox="1"/>
          <p:nvPr/>
        </p:nvSpPr>
        <p:spPr>
          <a:xfrm>
            <a:off x="6858000" y="54864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05</a:t>
            </a:r>
            <a:endParaRPr lang="en-US" sz="1800" dirty="0"/>
          </a:p>
        </p:txBody>
      </p:sp>
      <p:sp>
        <p:nvSpPr>
          <p:cNvPr id="18" name="Poin 5"/>
          <p:cNvSpPr txBox="1"/>
          <p:nvPr/>
        </p:nvSpPr>
        <p:spPr>
          <a:xfrm>
            <a:off x="7452360" y="54864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Privasi akun</a:t>
            </a:r>
            <a:endParaRPr lang="en-US" sz="1500" dirty="0"/>
          </a:p>
          <a:p>
            <a:pPr indent="0" marL="0">
              <a:buNone/>
            </a:pPr>
            <a:r>
              <a:rPr lang="en-US" sz="1500" dirty="0">
                <a:solidFill>
                  <a:schemeClr val="tx1"/>
                </a:solidFill>
              </a:rPr>
              <a:t>unduh data dan ajukan penutupan akun</a:t>
            </a:r>
            <a:endParaRPr lang="en-US" sz="15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TAMPILAN ANGGOTA</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Ajukan pinjaman dengan syarat jelas</a:t>
            </a:r>
            <a:endParaRPr lang="en-US" sz="3200" dirty="0"/>
          </a:p>
        </p:txBody>
      </p:sp>
      <p:sp>
        <p:nvSpPr>
          <p:cNvPr id="4" name="Panel Ajukan pinjaman dengan syarat jelas"/>
          <p:cNvSpPr/>
          <p:nvPr/>
        </p:nvSpPr>
        <p:spPr>
          <a:xfrm>
            <a:off x="822960" y="1783080"/>
            <a:ext cx="5486400" cy="4343400"/>
          </a:xfrm>
          <a:prstGeom prst="roundRect">
            <a:avLst>
              <a:gd name="adj" fmla="val 4211"/>
            </a:avLst>
          </a:prstGeom>
          <a:solidFill>
            <a:schemeClr val="bg2"/>
          </a:solidFill>
          <a:ln/>
        </p:spPr>
      </p:sp>
      <p:sp>
        <p:nvSpPr>
          <p:cNvPr id="5" name="Bingkai HP ajukan pinjaman"/>
          <p:cNvSpPr/>
          <p:nvPr/>
        </p:nvSpPr>
        <p:spPr>
          <a:xfrm>
            <a:off x="1051560" y="2011680"/>
            <a:ext cx="1864673" cy="3886200"/>
          </a:xfrm>
          <a:prstGeom prst="roundRect">
            <a:avLst>
              <a:gd name="adj" fmla="val 10788"/>
            </a:avLst>
          </a:prstGeom>
          <a:solidFill>
            <a:srgbClr val="0B1437"/>
          </a:solidFill>
          <a:ln w="12700">
            <a:solidFill>
              <a:srgbClr val="334155"/>
            </a:solidFill>
            <a:prstDash val="solid"/>
          </a:ln>
          <a:effectLst>
            <a:outerShdw sx="100000" sy="100000" kx="0" ky="0" algn="bl" rotWithShape="0" blurRad="152400" dist="50800" dir="5400000">
              <a:srgbClr val="000000">
                <a:alpha val="30000"/>
              </a:srgbClr>
            </a:outerShdw>
          </a:effectLst>
        </p:spPr>
      </p:sp>
      <p:pic>
        <p:nvPicPr>
          <p:cNvPr id="6" name="Layar HP ajukan pinjaman" descr="Tampilan HP: ajukan pinjaman">    </p:cNvPr>
          <p:cNvPicPr>
            <a:picLocks noChangeAspect="1"/>
          </p:cNvPicPr>
          <p:nvPr/>
        </p:nvPicPr>
        <p:blipFill>
          <a:blip r:embed="rId1"/>
          <a:stretch>
            <a:fillRect/>
          </a:stretch>
        </p:blipFill>
        <p:spPr>
          <a:xfrm>
            <a:off x="1115568" y="2075688"/>
            <a:ext cx="1736657" cy="3758184"/>
          </a:xfrm>
          <a:prstGeom prst="rect">
            <a:avLst/>
          </a:prstGeom>
        </p:spPr>
      </p:pic>
      <p:sp>
        <p:nvSpPr>
          <p:cNvPr id="7" name="Bingkai HP daftar pinjaman"/>
          <p:cNvSpPr/>
          <p:nvPr/>
        </p:nvSpPr>
        <p:spPr>
          <a:xfrm>
            <a:off x="3190553" y="2011680"/>
            <a:ext cx="1864673" cy="3886200"/>
          </a:xfrm>
          <a:prstGeom prst="roundRect">
            <a:avLst>
              <a:gd name="adj" fmla="val 10788"/>
            </a:avLst>
          </a:prstGeom>
          <a:solidFill>
            <a:srgbClr val="0B1437"/>
          </a:solidFill>
          <a:ln w="12700">
            <a:solidFill>
              <a:srgbClr val="334155"/>
            </a:solidFill>
            <a:prstDash val="solid"/>
          </a:ln>
          <a:effectLst>
            <a:outerShdw sx="100000" sy="100000" kx="0" ky="0" algn="bl" rotWithShape="0" blurRad="152400" dist="50800" dir="5400000">
              <a:srgbClr val="000000">
                <a:alpha val="30000"/>
              </a:srgbClr>
            </a:outerShdw>
          </a:effectLst>
        </p:spPr>
      </p:sp>
      <p:pic>
        <p:nvPicPr>
          <p:cNvPr id="8" name="Layar HP daftar pinjaman" descr="Tampilan HP: daftar pinjaman">    </p:cNvPr>
          <p:cNvPicPr>
            <a:picLocks noChangeAspect="1"/>
          </p:cNvPicPr>
          <p:nvPr/>
        </p:nvPicPr>
        <p:blipFill>
          <a:blip r:embed="rId2"/>
          <a:stretch>
            <a:fillRect/>
          </a:stretch>
        </p:blipFill>
        <p:spPr>
          <a:xfrm>
            <a:off x="3254561" y="2075688"/>
            <a:ext cx="1736657" cy="3758184"/>
          </a:xfrm>
          <a:prstGeom prst="rect">
            <a:avLst/>
          </a:prstGeom>
        </p:spPr>
      </p:pic>
      <p:sp>
        <p:nvSpPr>
          <p:cNvPr id="9" name="Nomor 1"/>
          <p:cNvSpPr txBox="1"/>
          <p:nvPr/>
        </p:nvSpPr>
        <p:spPr>
          <a:xfrm>
            <a:off x="6858000" y="18288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10" name="Poin 1"/>
          <p:cNvSpPr txBox="1"/>
          <p:nvPr/>
        </p:nvSpPr>
        <p:spPr>
          <a:xfrm>
            <a:off x="7452360" y="18288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9 syarat otomatis</a:t>
            </a:r>
            <a:endParaRPr lang="en-US" sz="1500" dirty="0"/>
          </a:p>
          <a:p>
            <a:pPr indent="0" marL="0">
              <a:buNone/>
            </a:pPr>
            <a:r>
              <a:rPr lang="en-US" sz="1500" dirty="0">
                <a:solidFill>
                  <a:schemeClr val="tx1"/>
                </a:solidFill>
              </a:rPr>
              <a:t>tiap syarat bercentang hijau atau diberi alasan</a:t>
            </a:r>
            <a:endParaRPr lang="en-US" sz="1500" dirty="0"/>
          </a:p>
        </p:txBody>
      </p:sp>
      <p:sp>
        <p:nvSpPr>
          <p:cNvPr id="11" name="Nomor 2"/>
          <p:cNvSpPr txBox="1"/>
          <p:nvPr/>
        </p:nvSpPr>
        <p:spPr>
          <a:xfrm>
            <a:off x="6858000" y="27432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12" name="Poin 2"/>
          <p:cNvSpPr txBox="1"/>
          <p:nvPr/>
        </p:nvSpPr>
        <p:spPr>
          <a:xfrm>
            <a:off x="7452360" y="27432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Plafon adil</a:t>
            </a:r>
            <a:endParaRPr lang="en-US" sz="1500" dirty="0"/>
          </a:p>
          <a:p>
            <a:pPr indent="0" marL="0">
              <a:buNone/>
            </a:pPr>
            <a:r>
              <a:rPr lang="en-US" sz="1500" dirty="0">
                <a:solidFill>
                  <a:schemeClr val="tx1"/>
                </a:solidFill>
              </a:rPr>
              <a:t>maksimal 3 kali saldo simpanan</a:t>
            </a:r>
            <a:endParaRPr lang="en-US" sz="1500" dirty="0"/>
          </a:p>
        </p:txBody>
      </p:sp>
      <p:sp>
        <p:nvSpPr>
          <p:cNvPr id="13" name="Nomor 3"/>
          <p:cNvSpPr txBox="1"/>
          <p:nvPr/>
        </p:nvSpPr>
        <p:spPr>
          <a:xfrm>
            <a:off x="6858000" y="36576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03</a:t>
            </a:r>
            <a:endParaRPr lang="en-US" sz="1800" dirty="0"/>
          </a:p>
        </p:txBody>
      </p:sp>
      <p:sp>
        <p:nvSpPr>
          <p:cNvPr id="14" name="Poin 3"/>
          <p:cNvSpPr txBox="1"/>
          <p:nvPr/>
        </p:nvSpPr>
        <p:spPr>
          <a:xfrm>
            <a:off x="7452360" y="36576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Angsuran terukur</a:t>
            </a:r>
            <a:endParaRPr lang="en-US" sz="1500" dirty="0"/>
          </a:p>
          <a:p>
            <a:pPr indent="0" marL="0">
              <a:buNone/>
            </a:pPr>
            <a:r>
              <a:rPr lang="en-US" sz="1500" dirty="0">
                <a:solidFill>
                  <a:schemeClr val="tx1"/>
                </a:solidFill>
              </a:rPr>
              <a:t>tidak lebih dari 30% penghasilan</a:t>
            </a:r>
            <a:endParaRPr lang="en-US" sz="1500" dirty="0"/>
          </a:p>
        </p:txBody>
      </p:sp>
      <p:sp>
        <p:nvSpPr>
          <p:cNvPr id="15" name="Nomor 4"/>
          <p:cNvSpPr txBox="1"/>
          <p:nvPr/>
        </p:nvSpPr>
        <p:spPr>
          <a:xfrm>
            <a:off x="6858000" y="45720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04</a:t>
            </a:r>
            <a:endParaRPr lang="en-US" sz="1800" dirty="0"/>
          </a:p>
        </p:txBody>
      </p:sp>
      <p:sp>
        <p:nvSpPr>
          <p:cNvPr id="16" name="Poin 4"/>
          <p:cNvSpPr txBox="1"/>
          <p:nvPr/>
        </p:nvSpPr>
        <p:spPr>
          <a:xfrm>
            <a:off x="7452360" y="45720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Ringkasan biaya</a:t>
            </a:r>
            <a:endParaRPr lang="en-US" sz="1500" dirty="0"/>
          </a:p>
          <a:p>
            <a:pPr indent="0" marL="0">
              <a:buNone/>
            </a:pPr>
            <a:r>
              <a:rPr lang="en-US" sz="1500" dirty="0">
                <a:solidFill>
                  <a:schemeClr val="tx1"/>
                </a:solidFill>
              </a:rPr>
              <a:t>bunga, bunga efektif, admin, total bayar</a:t>
            </a:r>
            <a:endParaRPr lang="en-US" sz="1500" dirty="0"/>
          </a:p>
        </p:txBody>
      </p:sp>
      <p:sp>
        <p:nvSpPr>
          <p:cNvPr id="17" name="Nomor 5"/>
          <p:cNvSpPr txBox="1"/>
          <p:nvPr/>
        </p:nvSpPr>
        <p:spPr>
          <a:xfrm>
            <a:off x="6858000" y="54864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05</a:t>
            </a:r>
            <a:endParaRPr lang="en-US" sz="1800" dirty="0"/>
          </a:p>
        </p:txBody>
      </p:sp>
      <p:sp>
        <p:nvSpPr>
          <p:cNvPr id="18" name="Poin 5"/>
          <p:cNvSpPr txBox="1"/>
          <p:nvPr/>
        </p:nvSpPr>
        <p:spPr>
          <a:xfrm>
            <a:off x="7452360" y="54864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Akad digital</a:t>
            </a:r>
            <a:endParaRPr lang="en-US" sz="1500" dirty="0"/>
          </a:p>
          <a:p>
            <a:pPr indent="0" marL="0">
              <a:buNone/>
            </a:pPr>
            <a:r>
              <a:rPr lang="en-US" sz="1500" dirty="0">
                <a:solidFill>
                  <a:schemeClr val="tx1"/>
                </a:solidFill>
              </a:rPr>
              <a:t>dua pernyataan dan konfirmasi password</a:t>
            </a:r>
            <a:endParaRPr lang="en-US" sz="15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TAMPILAN PENGURUS</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Dashboard pengurus</a:t>
            </a:r>
            <a:endParaRPr lang="en-US" sz="3200" dirty="0"/>
          </a:p>
        </p:txBody>
      </p:sp>
      <p:sp>
        <p:nvSpPr>
          <p:cNvPr id="4" name="Panel dashboard admin"/>
          <p:cNvSpPr/>
          <p:nvPr/>
        </p:nvSpPr>
        <p:spPr>
          <a:xfrm>
            <a:off x="822960" y="1783080"/>
            <a:ext cx="7040880" cy="4343400"/>
          </a:xfrm>
          <a:prstGeom prst="roundRect">
            <a:avLst>
              <a:gd name="adj" fmla="val 4211"/>
            </a:avLst>
          </a:prstGeom>
          <a:solidFill>
            <a:schemeClr val="bg2"/>
          </a:solidFill>
          <a:ln/>
        </p:spPr>
      </p:sp>
      <p:sp>
        <p:nvSpPr>
          <p:cNvPr id="5" name="Jendela dashboard admin"/>
          <p:cNvSpPr/>
          <p:nvPr/>
        </p:nvSpPr>
        <p:spPr>
          <a:xfrm>
            <a:off x="1097280" y="2103120"/>
            <a:ext cx="6492240" cy="4331970"/>
          </a:xfrm>
          <a:prstGeom prst="roundRect">
            <a:avLst>
              <a:gd name="adj" fmla="val 1689"/>
            </a:avLst>
          </a:prstGeom>
          <a:solidFill>
            <a:srgbClr val="FFFFFF"/>
          </a:solidFill>
          <a:ln w="12700">
            <a:solidFill>
              <a:srgbClr val="CBD5E1"/>
            </a:solidFill>
            <a:prstDash val="solid"/>
          </a:ln>
          <a:effectLst>
            <a:outerShdw sx="100000" sy="100000" kx="0" ky="0" algn="bl" rotWithShape="0" blurRad="152400" dist="50800" dir="5400000">
              <a:srgbClr val="0B1437">
                <a:alpha val="18000"/>
              </a:srgbClr>
            </a:outerShdw>
          </a:effectLst>
        </p:spPr>
      </p:sp>
      <p:sp>
        <p:nvSpPr>
          <p:cNvPr id="6" name="Bilah dashboard admin"/>
          <p:cNvSpPr/>
          <p:nvPr/>
        </p:nvSpPr>
        <p:spPr>
          <a:xfrm>
            <a:off x="1106424" y="2112264"/>
            <a:ext cx="6473952" cy="265176"/>
          </a:xfrm>
          <a:prstGeom prst="rect">
            <a:avLst/>
          </a:prstGeom>
          <a:solidFill>
            <a:srgbClr val="E2E8F0"/>
          </a:solidFill>
          <a:ln/>
        </p:spPr>
      </p:sp>
      <p:sp>
        <p:nvSpPr>
          <p:cNvPr id="7" name="Titik 0"/>
          <p:cNvSpPr/>
          <p:nvPr/>
        </p:nvSpPr>
        <p:spPr>
          <a:xfrm>
            <a:off x="1225296" y="2185416"/>
            <a:ext cx="109728" cy="109728"/>
          </a:xfrm>
          <a:prstGeom prst="ellipse">
            <a:avLst/>
          </a:prstGeom>
          <a:solidFill>
            <a:srgbClr val="F87171"/>
          </a:solidFill>
          <a:ln/>
        </p:spPr>
      </p:sp>
      <p:sp>
        <p:nvSpPr>
          <p:cNvPr id="8" name="Titik 1"/>
          <p:cNvSpPr/>
          <p:nvPr/>
        </p:nvSpPr>
        <p:spPr>
          <a:xfrm>
            <a:off x="1408176" y="2185416"/>
            <a:ext cx="109728" cy="109728"/>
          </a:xfrm>
          <a:prstGeom prst="ellipse">
            <a:avLst/>
          </a:prstGeom>
          <a:solidFill>
            <a:srgbClr val="FBBF24"/>
          </a:solidFill>
          <a:ln/>
        </p:spPr>
      </p:sp>
      <p:sp>
        <p:nvSpPr>
          <p:cNvPr id="9" name="Titik 2"/>
          <p:cNvSpPr/>
          <p:nvPr/>
        </p:nvSpPr>
        <p:spPr>
          <a:xfrm>
            <a:off x="1591056" y="2185416"/>
            <a:ext cx="109728" cy="109728"/>
          </a:xfrm>
          <a:prstGeom prst="ellipse">
            <a:avLst/>
          </a:prstGeom>
          <a:solidFill>
            <a:srgbClr val="4ADE80"/>
          </a:solidFill>
          <a:ln/>
        </p:spPr>
      </p:sp>
      <p:pic>
        <p:nvPicPr>
          <p:cNvPr id="10" name="Layar dashboard admin" descr="Tampilan desktop: dashboard admin">    </p:cNvPr>
          <p:cNvPicPr>
            <a:picLocks noChangeAspect="1"/>
          </p:cNvPicPr>
          <p:nvPr/>
        </p:nvPicPr>
        <p:blipFill>
          <a:blip r:embed="rId1"/>
          <a:stretch>
            <a:fillRect/>
          </a:stretch>
        </p:blipFill>
        <p:spPr>
          <a:xfrm>
            <a:off x="1106424" y="2377440"/>
            <a:ext cx="6473952" cy="4048506"/>
          </a:xfrm>
          <a:prstGeom prst="rect">
            <a:avLst/>
          </a:prstGeom>
        </p:spPr>
      </p:pic>
      <p:sp>
        <p:nvSpPr>
          <p:cNvPr id="11" name="Kartu rasio"/>
          <p:cNvSpPr/>
          <p:nvPr/>
        </p:nvSpPr>
        <p:spPr>
          <a:xfrm>
            <a:off x="8229600" y="1783080"/>
            <a:ext cx="3108960" cy="1920240"/>
          </a:xfrm>
          <a:prstGeom prst="roundRect">
            <a:avLst>
              <a:gd name="adj" fmla="val 6667"/>
            </a:avLst>
          </a:prstGeom>
          <a:solidFill>
            <a:schemeClr val="tx2"/>
          </a:solidFill>
          <a:ln w="12700">
            <a:solidFill>
              <a:srgbClr val="0B1437"/>
            </a:solidFill>
            <a:prstDash val="solid"/>
          </a:ln>
          <a:effectLst>
            <a:outerShdw sx="100000" sy="100000" kx="0" ky="0" algn="bl" rotWithShape="0" blurRad="127000" dist="38100" dir="5400000">
              <a:srgbClr val="0B1437">
                <a:alpha val="10000"/>
              </a:srgbClr>
            </a:outerShdw>
          </a:effectLst>
        </p:spPr>
      </p:sp>
      <p:sp>
        <p:nvSpPr>
          <p:cNvPr id="12" name="Angka rasio"/>
          <p:cNvSpPr txBox="1"/>
          <p:nvPr/>
        </p:nvSpPr>
        <p:spPr>
          <a:xfrm>
            <a:off x="8458200" y="1874520"/>
            <a:ext cx="2743200" cy="868680"/>
          </a:xfrm>
          <a:prstGeom prst="rect">
            <a:avLst/>
          </a:prstGeom>
          <a:noFill/>
          <a:ln/>
        </p:spPr>
        <p:txBody>
          <a:bodyPr wrap="square" lIns="0" tIns="0" rIns="0" bIns="0" rtlCol="0" anchor="ctr"/>
          <a:lstStyle/>
          <a:p>
            <a:pPr indent="0" marL="0">
              <a:buNone/>
            </a:pPr>
            <a:r>
              <a:rPr lang="en-US" sz="4800" b="1" dirty="0">
                <a:solidFill>
                  <a:srgbClr val="E3C77A"/>
                </a:solidFill>
                <a:latin typeface="Cambria" pitchFamily="34" charset="0"/>
                <a:ea typeface="Cambria" pitchFamily="34" charset="-122"/>
                <a:cs typeface="Cambria" pitchFamily="34" charset="-120"/>
              </a:rPr>
              <a:t>72,7%</a:t>
            </a:r>
            <a:endParaRPr lang="en-US" sz="4800" dirty="0"/>
          </a:p>
        </p:txBody>
      </p:sp>
      <p:sp>
        <p:nvSpPr>
          <p:cNvPr id="13" name="Arti rasio"/>
          <p:cNvSpPr txBox="1"/>
          <p:nvPr/>
        </p:nvSpPr>
        <p:spPr>
          <a:xfrm>
            <a:off x="8458200" y="2788920"/>
            <a:ext cx="2743200" cy="777240"/>
          </a:xfrm>
          <a:prstGeom prst="rect">
            <a:avLst/>
          </a:prstGeom>
          <a:noFill/>
          <a:ln/>
        </p:spPr>
        <p:txBody>
          <a:bodyPr wrap="square" lIns="0" tIns="0" rIns="0" bIns="0" rtlCol="0" anchor="t"/>
          <a:lstStyle/>
          <a:p>
            <a:pPr indent="0" marL="0">
              <a:buNone/>
            </a:pPr>
            <a:r>
              <a:rPr lang="en-US" sz="1300" dirty="0">
                <a:solidFill>
                  <a:srgbClr val="CADCFC"/>
                </a:solidFill>
              </a:rPr>
              <a:t>Pinjaman beredar dibanding total simpanan, status Sehat</a:t>
            </a:r>
            <a:endParaRPr lang="en-US" sz="1300" dirty="0"/>
          </a:p>
        </p:txBody>
      </p:sp>
      <p:sp>
        <p:nvSpPr>
          <p:cNvPr id="14" name="Nomor 1"/>
          <p:cNvSpPr txBox="1"/>
          <p:nvPr/>
        </p:nvSpPr>
        <p:spPr>
          <a:xfrm>
            <a:off x="8229600" y="397764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15" name="Poin 1"/>
          <p:cNvSpPr txBox="1"/>
          <p:nvPr/>
        </p:nvSpPr>
        <p:spPr>
          <a:xfrm>
            <a:off x="8823960" y="3977640"/>
            <a:ext cx="2514600" cy="941832"/>
          </a:xfrm>
          <a:prstGeom prst="rect">
            <a:avLst/>
          </a:prstGeom>
          <a:noFill/>
          <a:ln/>
        </p:spPr>
        <p:txBody>
          <a:bodyPr wrap="square" lIns="0" tIns="0" rIns="0" bIns="0" rtlCol="0" anchor="t"/>
          <a:lstStyle/>
          <a:p>
            <a:pPr indent="0" marL="0">
              <a:buNone/>
            </a:pPr>
            <a:r>
              <a:rPr lang="en-US" sz="1400" b="1" dirty="0">
                <a:solidFill>
                  <a:schemeClr val="tx2"/>
                </a:solidFill>
              </a:rPr>
              <a:t>Kesehatan koperasi</a:t>
            </a:r>
            <a:endParaRPr lang="en-US" sz="1400" dirty="0"/>
          </a:p>
          <a:p>
            <a:pPr indent="0" marL="0">
              <a:buNone/>
            </a:pPr>
            <a:r>
              <a:rPr lang="en-US" sz="1400" dirty="0">
                <a:solidFill>
                  <a:schemeClr val="tx1"/>
                </a:solidFill>
              </a:rPr>
              <a:t>kuning di atas 80%, merah di atas 90%</a:t>
            </a:r>
            <a:endParaRPr lang="en-US" sz="1400" dirty="0"/>
          </a:p>
        </p:txBody>
      </p:sp>
      <p:sp>
        <p:nvSpPr>
          <p:cNvPr id="16" name="Nomor 2"/>
          <p:cNvSpPr txBox="1"/>
          <p:nvPr/>
        </p:nvSpPr>
        <p:spPr>
          <a:xfrm>
            <a:off x="8229600" y="50292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17" name="Poin 2"/>
          <p:cNvSpPr txBox="1"/>
          <p:nvPr/>
        </p:nvSpPr>
        <p:spPr>
          <a:xfrm>
            <a:off x="8823960" y="5029200"/>
            <a:ext cx="2514600" cy="941832"/>
          </a:xfrm>
          <a:prstGeom prst="rect">
            <a:avLst/>
          </a:prstGeom>
          <a:noFill/>
          <a:ln/>
        </p:spPr>
        <p:txBody>
          <a:bodyPr wrap="square" lIns="0" tIns="0" rIns="0" bIns="0" rtlCol="0" anchor="t"/>
          <a:lstStyle/>
          <a:p>
            <a:pPr indent="0" marL="0">
              <a:buNone/>
            </a:pPr>
            <a:r>
              <a:rPr lang="en-US" sz="1400" b="1" dirty="0">
                <a:solidFill>
                  <a:schemeClr val="tx2"/>
                </a:solidFill>
              </a:rPr>
              <a:t>Antrean kerja</a:t>
            </a:r>
            <a:endParaRPr lang="en-US" sz="1400" dirty="0"/>
          </a:p>
          <a:p>
            <a:pPr indent="0" marL="0">
              <a:buNone/>
            </a:pPr>
            <a:r>
              <a:rPr lang="en-US" sz="1400" dirty="0">
                <a:solidFill>
                  <a:schemeClr val="tx1"/>
                </a:solidFill>
              </a:rPr>
              <a:t>lencana oranye di menu</a:t>
            </a:r>
            <a:endParaRPr lang="en-US" sz="14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PROSES BISNIS</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Alur pinjaman sampai lunas</a:t>
            </a:r>
            <a:endParaRPr lang="en-US" sz="3200" dirty="0"/>
          </a:p>
        </p:txBody>
      </p:sp>
      <p:sp>
        <p:nvSpPr>
          <p:cNvPr id="4" name="Panah 1"/>
          <p:cNvSpPr/>
          <p:nvPr/>
        </p:nvSpPr>
        <p:spPr>
          <a:xfrm>
            <a:off x="1920240" y="2194560"/>
            <a:ext cx="1216152" cy="0"/>
          </a:xfrm>
          <a:prstGeom prst="line">
            <a:avLst/>
          </a:prstGeom>
          <a:noFill/>
          <a:ln w="19050">
            <a:solidFill>
              <a:srgbClr val="B8C4DD"/>
            </a:solidFill>
            <a:prstDash val="solid"/>
            <a:tailEnd type="triangle"/>
          </a:ln>
        </p:spPr>
      </p:sp>
      <p:sp>
        <p:nvSpPr>
          <p:cNvPr id="5" name="Lingkaran Ajukan"/>
          <p:cNvSpPr/>
          <p:nvPr/>
        </p:nvSpPr>
        <p:spPr>
          <a:xfrm>
            <a:off x="1280160" y="1828800"/>
            <a:ext cx="731520" cy="731520"/>
          </a:xfrm>
          <a:prstGeom prst="ellipse">
            <a:avLst/>
          </a:prstGeom>
          <a:solidFill>
            <a:srgbClr val="1E5FC7"/>
          </a:solidFill>
          <a:ln/>
        </p:spPr>
      </p:sp>
      <p:pic>
        <p:nvPicPr>
          <p:cNvPr id="6" name="Ikon Ajukan" descr="Ajukan">    </p:cNvPr>
          <p:cNvPicPr>
            <a:picLocks noChangeAspect="1"/>
          </p:cNvPicPr>
          <p:nvPr/>
        </p:nvPicPr>
        <p:blipFill>
          <a:blip r:embed="rId1"/>
          <a:stretch>
            <a:fillRect/>
          </a:stretch>
        </p:blipFill>
        <p:spPr>
          <a:xfrm>
            <a:off x="1463040" y="2011680"/>
            <a:ext cx="365760" cy="365760"/>
          </a:xfrm>
          <a:prstGeom prst="rect">
            <a:avLst/>
          </a:prstGeom>
        </p:spPr>
      </p:pic>
      <p:sp>
        <p:nvSpPr>
          <p:cNvPr id="7" name="Langkah Ajukan"/>
          <p:cNvSpPr txBox="1"/>
          <p:nvPr/>
        </p:nvSpPr>
        <p:spPr>
          <a:xfrm>
            <a:off x="822960" y="2743200"/>
            <a:ext cx="1719072"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1. Ajukan</a:t>
            </a:r>
            <a:endParaRPr lang="en-US" sz="1800" dirty="0"/>
          </a:p>
        </p:txBody>
      </p:sp>
      <p:sp>
        <p:nvSpPr>
          <p:cNvPr id="8" name="Peran Ajukan"/>
          <p:cNvSpPr txBox="1"/>
          <p:nvPr/>
        </p:nvSpPr>
        <p:spPr>
          <a:xfrm>
            <a:off x="822960" y="3154680"/>
            <a:ext cx="1719072" cy="274320"/>
          </a:xfrm>
          <a:prstGeom prst="rect">
            <a:avLst/>
          </a:prstGeom>
          <a:noFill/>
          <a:ln/>
        </p:spPr>
        <p:txBody>
          <a:bodyPr wrap="square" lIns="0" tIns="0" rIns="0" bIns="0" rtlCol="0" anchor="ctr"/>
          <a:lstStyle/>
          <a:p>
            <a:pPr algn="ctr" indent="0" marL="0">
              <a:buNone/>
            </a:pPr>
            <a:r>
              <a:rPr lang="en-US" sz="1200" b="1" dirty="0">
                <a:solidFill>
                  <a:schemeClr val="accent1"/>
                </a:solidFill>
              </a:rPr>
              <a:t>Anggota</a:t>
            </a:r>
            <a:endParaRPr lang="en-US" sz="1200" dirty="0"/>
          </a:p>
        </p:txBody>
      </p:sp>
      <p:sp>
        <p:nvSpPr>
          <p:cNvPr id="9" name="Uraian Ajukan"/>
          <p:cNvSpPr txBox="1"/>
          <p:nvPr/>
        </p:nvSpPr>
        <p:spPr>
          <a:xfrm>
            <a:off x="914400" y="3566160"/>
            <a:ext cx="1536192" cy="822960"/>
          </a:xfrm>
          <a:prstGeom prst="rect">
            <a:avLst/>
          </a:prstGeom>
          <a:noFill/>
          <a:ln/>
        </p:spPr>
        <p:txBody>
          <a:bodyPr wrap="square" lIns="0" tIns="0" rIns="0" bIns="0" rtlCol="0" anchor="t"/>
          <a:lstStyle/>
          <a:p>
            <a:pPr algn="ctr" indent="0" marL="0">
              <a:buNone/>
            </a:pPr>
            <a:r>
              <a:rPr lang="en-US" sz="1300" dirty="0">
                <a:solidFill>
                  <a:schemeClr val="tx1"/>
                </a:solidFill>
              </a:rPr>
              <a:t>Isi nominal dan tenor; syarat dicek</a:t>
            </a:r>
            <a:endParaRPr lang="en-US" sz="1300" dirty="0"/>
          </a:p>
        </p:txBody>
      </p:sp>
      <p:sp>
        <p:nvSpPr>
          <p:cNvPr id="10" name="Panah 2"/>
          <p:cNvSpPr/>
          <p:nvPr/>
        </p:nvSpPr>
        <p:spPr>
          <a:xfrm>
            <a:off x="3681374" y="2194560"/>
            <a:ext cx="1216152" cy="0"/>
          </a:xfrm>
          <a:prstGeom prst="line">
            <a:avLst/>
          </a:prstGeom>
          <a:noFill/>
          <a:ln w="19050">
            <a:solidFill>
              <a:srgbClr val="B8C4DD"/>
            </a:solidFill>
            <a:prstDash val="solid"/>
            <a:tailEnd type="triangle"/>
          </a:ln>
        </p:spPr>
      </p:sp>
      <p:sp>
        <p:nvSpPr>
          <p:cNvPr id="11" name="Lingkaran Tinjau"/>
          <p:cNvSpPr/>
          <p:nvPr/>
        </p:nvSpPr>
        <p:spPr>
          <a:xfrm>
            <a:off x="3041294" y="1828800"/>
            <a:ext cx="731520" cy="731520"/>
          </a:xfrm>
          <a:prstGeom prst="ellipse">
            <a:avLst/>
          </a:prstGeom>
          <a:solidFill>
            <a:srgbClr val="0B1437"/>
          </a:solidFill>
          <a:ln/>
        </p:spPr>
      </p:sp>
      <p:pic>
        <p:nvPicPr>
          <p:cNvPr id="12" name="Ikon Tinjau" descr="Tinjau">    </p:cNvPr>
          <p:cNvPicPr>
            <a:picLocks noChangeAspect="1"/>
          </p:cNvPicPr>
          <p:nvPr/>
        </p:nvPicPr>
        <p:blipFill>
          <a:blip r:embed="rId2"/>
          <a:stretch>
            <a:fillRect/>
          </a:stretch>
        </p:blipFill>
        <p:spPr>
          <a:xfrm>
            <a:off x="3224174" y="2011680"/>
            <a:ext cx="365760" cy="365760"/>
          </a:xfrm>
          <a:prstGeom prst="rect">
            <a:avLst/>
          </a:prstGeom>
        </p:spPr>
      </p:pic>
      <p:sp>
        <p:nvSpPr>
          <p:cNvPr id="13" name="Langkah Tinjau"/>
          <p:cNvSpPr txBox="1"/>
          <p:nvPr/>
        </p:nvSpPr>
        <p:spPr>
          <a:xfrm>
            <a:off x="2584094" y="2743200"/>
            <a:ext cx="1719072"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2. Tinjau</a:t>
            </a:r>
            <a:endParaRPr lang="en-US" sz="1800" dirty="0"/>
          </a:p>
        </p:txBody>
      </p:sp>
      <p:sp>
        <p:nvSpPr>
          <p:cNvPr id="14" name="Peran Tinjau"/>
          <p:cNvSpPr txBox="1"/>
          <p:nvPr/>
        </p:nvSpPr>
        <p:spPr>
          <a:xfrm>
            <a:off x="2584094" y="3154680"/>
            <a:ext cx="1719072" cy="274320"/>
          </a:xfrm>
          <a:prstGeom prst="rect">
            <a:avLst/>
          </a:prstGeom>
          <a:noFill/>
          <a:ln/>
        </p:spPr>
        <p:txBody>
          <a:bodyPr wrap="square" lIns="0" tIns="0" rIns="0" bIns="0" rtlCol="0" anchor="ctr"/>
          <a:lstStyle/>
          <a:p>
            <a:pPr algn="ctr" indent="0" marL="0">
              <a:buNone/>
            </a:pPr>
            <a:r>
              <a:rPr lang="en-US" sz="1200" b="1" dirty="0">
                <a:solidFill>
                  <a:schemeClr val="accent1"/>
                </a:solidFill>
              </a:rPr>
              <a:t>Admin</a:t>
            </a:r>
            <a:endParaRPr lang="en-US" sz="1200" dirty="0"/>
          </a:p>
        </p:txBody>
      </p:sp>
      <p:sp>
        <p:nvSpPr>
          <p:cNvPr id="15" name="Uraian Tinjau"/>
          <p:cNvSpPr txBox="1"/>
          <p:nvPr/>
        </p:nvSpPr>
        <p:spPr>
          <a:xfrm>
            <a:off x="2675534" y="3566160"/>
            <a:ext cx="1536192" cy="822960"/>
          </a:xfrm>
          <a:prstGeom prst="rect">
            <a:avLst/>
          </a:prstGeom>
          <a:noFill/>
          <a:ln/>
        </p:spPr>
        <p:txBody>
          <a:bodyPr wrap="square" lIns="0" tIns="0" rIns="0" bIns="0" rtlCol="0" anchor="t"/>
          <a:lstStyle/>
          <a:p>
            <a:pPr algn="ctr" indent="0" marL="0">
              <a:buNone/>
            </a:pPr>
            <a:r>
              <a:rPr lang="en-US" sz="1300" dirty="0">
                <a:solidFill>
                  <a:schemeClr val="tx1"/>
                </a:solidFill>
              </a:rPr>
              <a:t>Periksa data dan kelayakan</a:t>
            </a:r>
            <a:endParaRPr lang="en-US" sz="1300" dirty="0"/>
          </a:p>
        </p:txBody>
      </p:sp>
      <p:sp>
        <p:nvSpPr>
          <p:cNvPr id="16" name="Panah 3"/>
          <p:cNvSpPr/>
          <p:nvPr/>
        </p:nvSpPr>
        <p:spPr>
          <a:xfrm>
            <a:off x="5442509" y="2194560"/>
            <a:ext cx="1216152" cy="0"/>
          </a:xfrm>
          <a:prstGeom prst="line">
            <a:avLst/>
          </a:prstGeom>
          <a:noFill/>
          <a:ln w="19050">
            <a:solidFill>
              <a:srgbClr val="B8C4DD"/>
            </a:solidFill>
            <a:prstDash val="solid"/>
            <a:tailEnd type="triangle"/>
          </a:ln>
        </p:spPr>
      </p:sp>
      <p:sp>
        <p:nvSpPr>
          <p:cNvPr id="17" name="Lingkaran Setujui"/>
          <p:cNvSpPr/>
          <p:nvPr/>
        </p:nvSpPr>
        <p:spPr>
          <a:xfrm>
            <a:off x="4802429" y="1828800"/>
            <a:ext cx="731520" cy="731520"/>
          </a:xfrm>
          <a:prstGeom prst="ellipse">
            <a:avLst/>
          </a:prstGeom>
          <a:solidFill>
            <a:srgbClr val="1E5FC7"/>
          </a:solidFill>
          <a:ln/>
        </p:spPr>
      </p:sp>
      <p:pic>
        <p:nvPicPr>
          <p:cNvPr id="18" name="Ikon Setujui" descr="Setujui">    </p:cNvPr>
          <p:cNvPicPr>
            <a:picLocks noChangeAspect="1"/>
          </p:cNvPicPr>
          <p:nvPr/>
        </p:nvPicPr>
        <p:blipFill>
          <a:blip r:embed="rId3"/>
          <a:stretch>
            <a:fillRect/>
          </a:stretch>
        </p:blipFill>
        <p:spPr>
          <a:xfrm>
            <a:off x="4985309" y="2011680"/>
            <a:ext cx="365760" cy="365760"/>
          </a:xfrm>
          <a:prstGeom prst="rect">
            <a:avLst/>
          </a:prstGeom>
        </p:spPr>
      </p:pic>
      <p:sp>
        <p:nvSpPr>
          <p:cNvPr id="19" name="Langkah Setujui"/>
          <p:cNvSpPr txBox="1"/>
          <p:nvPr/>
        </p:nvSpPr>
        <p:spPr>
          <a:xfrm>
            <a:off x="4345229" y="2743200"/>
            <a:ext cx="1719072"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3. Setujui</a:t>
            </a:r>
            <a:endParaRPr lang="en-US" sz="1800" dirty="0"/>
          </a:p>
        </p:txBody>
      </p:sp>
      <p:sp>
        <p:nvSpPr>
          <p:cNvPr id="20" name="Peran Setujui"/>
          <p:cNvSpPr txBox="1"/>
          <p:nvPr/>
        </p:nvSpPr>
        <p:spPr>
          <a:xfrm>
            <a:off x="4345229" y="3154680"/>
            <a:ext cx="1719072" cy="274320"/>
          </a:xfrm>
          <a:prstGeom prst="rect">
            <a:avLst/>
          </a:prstGeom>
          <a:noFill/>
          <a:ln/>
        </p:spPr>
        <p:txBody>
          <a:bodyPr wrap="square" lIns="0" tIns="0" rIns="0" bIns="0" rtlCol="0" anchor="ctr"/>
          <a:lstStyle/>
          <a:p>
            <a:pPr algn="ctr" indent="0" marL="0">
              <a:buNone/>
            </a:pPr>
            <a:r>
              <a:rPr lang="en-US" sz="1200" b="1" dirty="0">
                <a:solidFill>
                  <a:schemeClr val="accent1"/>
                </a:solidFill>
              </a:rPr>
              <a:t>Manajer</a:t>
            </a:r>
            <a:endParaRPr lang="en-US" sz="1200" dirty="0"/>
          </a:p>
        </p:txBody>
      </p:sp>
      <p:sp>
        <p:nvSpPr>
          <p:cNvPr id="21" name="Uraian Setujui"/>
          <p:cNvSpPr txBox="1"/>
          <p:nvPr/>
        </p:nvSpPr>
        <p:spPr>
          <a:xfrm>
            <a:off x="4436669" y="3566160"/>
            <a:ext cx="1536192" cy="822960"/>
          </a:xfrm>
          <a:prstGeom prst="rect">
            <a:avLst/>
          </a:prstGeom>
          <a:noFill/>
          <a:ln/>
        </p:spPr>
        <p:txBody>
          <a:bodyPr wrap="square" lIns="0" tIns="0" rIns="0" bIns="0" rtlCol="0" anchor="t"/>
          <a:lstStyle/>
          <a:p>
            <a:pPr algn="ctr" indent="0" marL="0">
              <a:buNone/>
            </a:pPr>
            <a:r>
              <a:rPr lang="en-US" sz="1300" dirty="0">
                <a:solidFill>
                  <a:schemeClr val="tx1"/>
                </a:solidFill>
              </a:rPr>
              <a:t>Setuju atau tolak</a:t>
            </a:r>
            <a:endParaRPr lang="en-US" sz="1300" dirty="0"/>
          </a:p>
        </p:txBody>
      </p:sp>
      <p:sp>
        <p:nvSpPr>
          <p:cNvPr id="22" name="Panah 4"/>
          <p:cNvSpPr/>
          <p:nvPr/>
        </p:nvSpPr>
        <p:spPr>
          <a:xfrm>
            <a:off x="7203643" y="2194560"/>
            <a:ext cx="1216152" cy="0"/>
          </a:xfrm>
          <a:prstGeom prst="line">
            <a:avLst/>
          </a:prstGeom>
          <a:noFill/>
          <a:ln w="19050">
            <a:solidFill>
              <a:srgbClr val="B8C4DD"/>
            </a:solidFill>
            <a:prstDash val="solid"/>
            <a:tailEnd type="triangle"/>
          </a:ln>
        </p:spPr>
      </p:sp>
      <p:sp>
        <p:nvSpPr>
          <p:cNvPr id="23" name="Lingkaran Akad"/>
          <p:cNvSpPr/>
          <p:nvPr/>
        </p:nvSpPr>
        <p:spPr>
          <a:xfrm>
            <a:off x="6563563" y="1828800"/>
            <a:ext cx="731520" cy="731520"/>
          </a:xfrm>
          <a:prstGeom prst="ellipse">
            <a:avLst/>
          </a:prstGeom>
          <a:solidFill>
            <a:srgbClr val="0B1437"/>
          </a:solidFill>
          <a:ln/>
        </p:spPr>
      </p:sp>
      <p:pic>
        <p:nvPicPr>
          <p:cNvPr id="24" name="Ikon Akad" descr="Akad">    </p:cNvPr>
          <p:cNvPicPr>
            <a:picLocks noChangeAspect="1"/>
          </p:cNvPicPr>
          <p:nvPr/>
        </p:nvPicPr>
        <p:blipFill>
          <a:blip r:embed="rId4"/>
          <a:stretch>
            <a:fillRect/>
          </a:stretch>
        </p:blipFill>
        <p:spPr>
          <a:xfrm>
            <a:off x="6746443" y="2011680"/>
            <a:ext cx="365760" cy="365760"/>
          </a:xfrm>
          <a:prstGeom prst="rect">
            <a:avLst/>
          </a:prstGeom>
        </p:spPr>
      </p:pic>
      <p:sp>
        <p:nvSpPr>
          <p:cNvPr id="25" name="Langkah Akad"/>
          <p:cNvSpPr txBox="1"/>
          <p:nvPr/>
        </p:nvSpPr>
        <p:spPr>
          <a:xfrm>
            <a:off x="6106363" y="2743200"/>
            <a:ext cx="1719072"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4. Akad</a:t>
            </a:r>
            <a:endParaRPr lang="en-US" sz="1800" dirty="0"/>
          </a:p>
        </p:txBody>
      </p:sp>
      <p:sp>
        <p:nvSpPr>
          <p:cNvPr id="26" name="Peran Akad"/>
          <p:cNvSpPr txBox="1"/>
          <p:nvPr/>
        </p:nvSpPr>
        <p:spPr>
          <a:xfrm>
            <a:off x="6106363" y="3154680"/>
            <a:ext cx="1719072" cy="274320"/>
          </a:xfrm>
          <a:prstGeom prst="rect">
            <a:avLst/>
          </a:prstGeom>
          <a:noFill/>
          <a:ln/>
        </p:spPr>
        <p:txBody>
          <a:bodyPr wrap="square" lIns="0" tIns="0" rIns="0" bIns="0" rtlCol="0" anchor="ctr"/>
          <a:lstStyle/>
          <a:p>
            <a:pPr algn="ctr" indent="0" marL="0">
              <a:buNone/>
            </a:pPr>
            <a:r>
              <a:rPr lang="en-US" sz="1200" b="1" dirty="0">
                <a:solidFill>
                  <a:schemeClr val="accent1"/>
                </a:solidFill>
              </a:rPr>
              <a:t>Anggota</a:t>
            </a:r>
            <a:endParaRPr lang="en-US" sz="1200" dirty="0"/>
          </a:p>
        </p:txBody>
      </p:sp>
      <p:sp>
        <p:nvSpPr>
          <p:cNvPr id="27" name="Uraian Akad"/>
          <p:cNvSpPr txBox="1"/>
          <p:nvPr/>
        </p:nvSpPr>
        <p:spPr>
          <a:xfrm>
            <a:off x="6197803" y="3566160"/>
            <a:ext cx="1536192" cy="822960"/>
          </a:xfrm>
          <a:prstGeom prst="rect">
            <a:avLst/>
          </a:prstGeom>
          <a:noFill/>
          <a:ln/>
        </p:spPr>
        <p:txBody>
          <a:bodyPr wrap="square" lIns="0" tIns="0" rIns="0" bIns="0" rtlCol="0" anchor="t"/>
          <a:lstStyle/>
          <a:p>
            <a:pPr algn="ctr" indent="0" marL="0">
              <a:buNone/>
            </a:pPr>
            <a:r>
              <a:rPr lang="en-US" sz="1300" dirty="0">
                <a:solidFill>
                  <a:schemeClr val="tx1"/>
                </a:solidFill>
              </a:rPr>
              <a:t>Setujui akad dengan password</a:t>
            </a:r>
            <a:endParaRPr lang="en-US" sz="1300" dirty="0"/>
          </a:p>
        </p:txBody>
      </p:sp>
      <p:sp>
        <p:nvSpPr>
          <p:cNvPr id="28" name="Panah 5"/>
          <p:cNvSpPr/>
          <p:nvPr/>
        </p:nvSpPr>
        <p:spPr>
          <a:xfrm>
            <a:off x="8964778" y="2194560"/>
            <a:ext cx="1216152" cy="0"/>
          </a:xfrm>
          <a:prstGeom prst="line">
            <a:avLst/>
          </a:prstGeom>
          <a:noFill/>
          <a:ln w="19050">
            <a:solidFill>
              <a:srgbClr val="B8C4DD"/>
            </a:solidFill>
            <a:prstDash val="solid"/>
            <a:tailEnd type="triangle"/>
          </a:ln>
        </p:spPr>
      </p:sp>
      <p:sp>
        <p:nvSpPr>
          <p:cNvPr id="29" name="Lingkaran Cairkan"/>
          <p:cNvSpPr/>
          <p:nvPr/>
        </p:nvSpPr>
        <p:spPr>
          <a:xfrm>
            <a:off x="8324698" y="1828800"/>
            <a:ext cx="731520" cy="731520"/>
          </a:xfrm>
          <a:prstGeom prst="ellipse">
            <a:avLst/>
          </a:prstGeom>
          <a:solidFill>
            <a:srgbClr val="1E5FC7"/>
          </a:solidFill>
          <a:ln/>
        </p:spPr>
      </p:sp>
      <p:pic>
        <p:nvPicPr>
          <p:cNvPr id="30" name="Ikon Cairkan" descr="Cairkan">    </p:cNvPr>
          <p:cNvPicPr>
            <a:picLocks noChangeAspect="1"/>
          </p:cNvPicPr>
          <p:nvPr/>
        </p:nvPicPr>
        <p:blipFill>
          <a:blip r:embed="rId5"/>
          <a:stretch>
            <a:fillRect/>
          </a:stretch>
        </p:blipFill>
        <p:spPr>
          <a:xfrm>
            <a:off x="8507578" y="2011680"/>
            <a:ext cx="365760" cy="365760"/>
          </a:xfrm>
          <a:prstGeom prst="rect">
            <a:avLst/>
          </a:prstGeom>
        </p:spPr>
      </p:pic>
      <p:sp>
        <p:nvSpPr>
          <p:cNvPr id="31" name="Langkah Cairkan"/>
          <p:cNvSpPr txBox="1"/>
          <p:nvPr/>
        </p:nvSpPr>
        <p:spPr>
          <a:xfrm>
            <a:off x="7867498" y="2743200"/>
            <a:ext cx="1719072"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5. Cairkan</a:t>
            </a:r>
            <a:endParaRPr lang="en-US" sz="1800" dirty="0"/>
          </a:p>
        </p:txBody>
      </p:sp>
      <p:sp>
        <p:nvSpPr>
          <p:cNvPr id="32" name="Peran Cairkan"/>
          <p:cNvSpPr txBox="1"/>
          <p:nvPr/>
        </p:nvSpPr>
        <p:spPr>
          <a:xfrm>
            <a:off x="7867498" y="3154680"/>
            <a:ext cx="1719072" cy="274320"/>
          </a:xfrm>
          <a:prstGeom prst="rect">
            <a:avLst/>
          </a:prstGeom>
          <a:noFill/>
          <a:ln/>
        </p:spPr>
        <p:txBody>
          <a:bodyPr wrap="square" lIns="0" tIns="0" rIns="0" bIns="0" rtlCol="0" anchor="ctr"/>
          <a:lstStyle/>
          <a:p>
            <a:pPr algn="ctr" indent="0" marL="0">
              <a:buNone/>
            </a:pPr>
            <a:r>
              <a:rPr lang="en-US" sz="1200" b="1" dirty="0">
                <a:solidFill>
                  <a:schemeClr val="accent1"/>
                </a:solidFill>
              </a:rPr>
              <a:t>Teller</a:t>
            </a:r>
            <a:endParaRPr lang="en-US" sz="1200" dirty="0"/>
          </a:p>
        </p:txBody>
      </p:sp>
      <p:sp>
        <p:nvSpPr>
          <p:cNvPr id="33" name="Uraian Cairkan"/>
          <p:cNvSpPr txBox="1"/>
          <p:nvPr/>
        </p:nvSpPr>
        <p:spPr>
          <a:xfrm>
            <a:off x="7958938" y="3566160"/>
            <a:ext cx="1536192" cy="822960"/>
          </a:xfrm>
          <a:prstGeom prst="rect">
            <a:avLst/>
          </a:prstGeom>
          <a:noFill/>
          <a:ln/>
        </p:spPr>
        <p:txBody>
          <a:bodyPr wrap="square" lIns="0" tIns="0" rIns="0" bIns="0" rtlCol="0" anchor="t"/>
          <a:lstStyle/>
          <a:p>
            <a:pPr algn="ctr" indent="0" marL="0">
              <a:buNone/>
            </a:pPr>
            <a:r>
              <a:rPr lang="en-US" sz="1300" dirty="0">
                <a:solidFill>
                  <a:schemeClr val="tx1"/>
                </a:solidFill>
              </a:rPr>
              <a:t>Transfer dan unggah bukti</a:t>
            </a:r>
            <a:endParaRPr lang="en-US" sz="1300" dirty="0"/>
          </a:p>
        </p:txBody>
      </p:sp>
      <p:sp>
        <p:nvSpPr>
          <p:cNvPr id="34" name="Lingkaran Angsuran"/>
          <p:cNvSpPr/>
          <p:nvPr/>
        </p:nvSpPr>
        <p:spPr>
          <a:xfrm>
            <a:off x="10085832" y="1828800"/>
            <a:ext cx="731520" cy="731520"/>
          </a:xfrm>
          <a:prstGeom prst="ellipse">
            <a:avLst/>
          </a:prstGeom>
          <a:solidFill>
            <a:srgbClr val="0B1437"/>
          </a:solidFill>
          <a:ln/>
        </p:spPr>
      </p:sp>
      <p:pic>
        <p:nvPicPr>
          <p:cNvPr id="35" name="Ikon Angsuran" descr="Angsuran">    </p:cNvPr>
          <p:cNvPicPr>
            <a:picLocks noChangeAspect="1"/>
          </p:cNvPicPr>
          <p:nvPr/>
        </p:nvPicPr>
        <p:blipFill>
          <a:blip r:embed="rId6"/>
          <a:stretch>
            <a:fillRect/>
          </a:stretch>
        </p:blipFill>
        <p:spPr>
          <a:xfrm>
            <a:off x="10268712" y="2011680"/>
            <a:ext cx="365760" cy="365760"/>
          </a:xfrm>
          <a:prstGeom prst="rect">
            <a:avLst/>
          </a:prstGeom>
        </p:spPr>
      </p:pic>
      <p:sp>
        <p:nvSpPr>
          <p:cNvPr id="36" name="Langkah Angsuran"/>
          <p:cNvSpPr txBox="1"/>
          <p:nvPr/>
        </p:nvSpPr>
        <p:spPr>
          <a:xfrm>
            <a:off x="9628632" y="2743200"/>
            <a:ext cx="1719072"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6. Angsuran</a:t>
            </a:r>
            <a:endParaRPr lang="en-US" sz="1800" dirty="0"/>
          </a:p>
        </p:txBody>
      </p:sp>
      <p:sp>
        <p:nvSpPr>
          <p:cNvPr id="37" name="Peran Angsuran"/>
          <p:cNvSpPr txBox="1"/>
          <p:nvPr/>
        </p:nvSpPr>
        <p:spPr>
          <a:xfrm>
            <a:off x="9628632" y="3154680"/>
            <a:ext cx="1719072" cy="274320"/>
          </a:xfrm>
          <a:prstGeom prst="rect">
            <a:avLst/>
          </a:prstGeom>
          <a:noFill/>
          <a:ln/>
        </p:spPr>
        <p:txBody>
          <a:bodyPr wrap="square" lIns="0" tIns="0" rIns="0" bIns="0" rtlCol="0" anchor="ctr"/>
          <a:lstStyle/>
          <a:p>
            <a:pPr algn="ctr" indent="0" marL="0">
              <a:buNone/>
            </a:pPr>
            <a:r>
              <a:rPr lang="en-US" sz="1200" b="1" dirty="0">
                <a:solidFill>
                  <a:schemeClr val="accent1"/>
                </a:solidFill>
              </a:rPr>
              <a:t>Anggota + Teller</a:t>
            </a:r>
            <a:endParaRPr lang="en-US" sz="1200" dirty="0"/>
          </a:p>
        </p:txBody>
      </p:sp>
      <p:sp>
        <p:nvSpPr>
          <p:cNvPr id="38" name="Uraian Angsuran"/>
          <p:cNvSpPr txBox="1"/>
          <p:nvPr/>
        </p:nvSpPr>
        <p:spPr>
          <a:xfrm>
            <a:off x="9720072" y="3566160"/>
            <a:ext cx="1536192" cy="822960"/>
          </a:xfrm>
          <a:prstGeom prst="rect">
            <a:avLst/>
          </a:prstGeom>
          <a:noFill/>
          <a:ln/>
        </p:spPr>
        <p:txBody>
          <a:bodyPr wrap="square" lIns="0" tIns="0" rIns="0" bIns="0" rtlCol="0" anchor="t"/>
          <a:lstStyle/>
          <a:p>
            <a:pPr algn="ctr" indent="0" marL="0">
              <a:buNone/>
            </a:pPr>
            <a:r>
              <a:rPr lang="en-US" sz="1300" dirty="0">
                <a:solidFill>
                  <a:schemeClr val="tx1"/>
                </a:solidFill>
              </a:rPr>
              <a:t>Bayar, verifikasi, lunas</a:t>
            </a:r>
            <a:endParaRPr lang="en-US" sz="1300" dirty="0"/>
          </a:p>
        </p:txBody>
      </p:sp>
      <p:sp>
        <p:nvSpPr>
          <p:cNvPr id="39" name="Kartu catatan alur"/>
          <p:cNvSpPr/>
          <p:nvPr/>
        </p:nvSpPr>
        <p:spPr>
          <a:xfrm>
            <a:off x="822960" y="4754880"/>
            <a:ext cx="10515600" cy="1371600"/>
          </a:xfrm>
          <a:prstGeom prst="roundRect">
            <a:avLst>
              <a:gd name="adj" fmla="val 9333"/>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40" name="Catatan alur"/>
          <p:cNvSpPr txBox="1"/>
          <p:nvPr/>
        </p:nvSpPr>
        <p:spPr>
          <a:xfrm>
            <a:off x="1143000" y="4937760"/>
            <a:ext cx="9875520" cy="1005840"/>
          </a:xfrm>
          <a:prstGeom prst="rect">
            <a:avLst/>
          </a:prstGeom>
          <a:noFill/>
          <a:ln/>
        </p:spPr>
        <p:txBody>
          <a:bodyPr wrap="square" lIns="0" tIns="0" rIns="0" bIns="0" rtlCol="0" anchor="ctr"/>
          <a:lstStyle/>
          <a:p>
            <a:pPr indent="0" marL="0">
              <a:buNone/>
            </a:pPr>
            <a:r>
              <a:rPr lang="en-US" sz="1500" b="1" dirty="0">
                <a:solidFill>
                  <a:schemeClr val="tx2"/>
                </a:solidFill>
              </a:rPr>
              <a:t>Pemisahan tugas: </a:t>
            </a:r>
            <a:pPr indent="0" marL="0">
              <a:buNone/>
            </a:pPr>
            <a:r>
              <a:rPr lang="en-US" sz="1500" dirty="0">
                <a:solidFill>
                  <a:schemeClr val="tx1"/>
                </a:solidFill>
              </a:rPr>
              <a:t>yang menyetujui tidak mencairkan, yang mencairkan tidak menyetujui. </a:t>
            </a:r>
            <a:pPr indent="0" marL="0">
              <a:buNone/>
            </a:pPr>
            <a:r>
              <a:rPr lang="en-US" sz="1500" b="1" dirty="0">
                <a:solidFill>
                  <a:schemeClr val="tx2"/>
                </a:solidFill>
              </a:rPr>
              <a:t>Rasio di atas 90%: </a:t>
            </a:r>
            <a:pPr indent="0" marL="0">
              <a:buNone/>
            </a:pPr>
            <a:r>
              <a:rPr lang="en-US" sz="1500" dirty="0">
                <a:solidFill>
                  <a:schemeClr val="tx1"/>
                </a:solidFill>
              </a:rPr>
              <a:t>hanya Manajer yang boleh menyetujui pinjaman baru. Setiap perubahan tercatat di audit log dan buku mutasi.</a:t>
            </a:r>
            <a:endParaRPr lang="en-US" sz="15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PANDUAN UNTUK PENGUJI</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Skenario data contoh</a:t>
            </a:r>
            <a:endParaRPr lang="en-US" sz="3200" dirty="0"/>
          </a:p>
        </p:txBody>
      </p:sp>
      <p:graphicFrame>
        <p:nvGraphicFramePr>
          <p:cNvPr id="13" name="Tabel skenario"/>
          <p:cNvGraphicFramePr>
            <a:graphicFrameLocks noGrp="1"/>
          </p:cNvGraphicFramePr>
          <p:nvPr>
            <p:extLst>
              <p:ext uri="{D42A27DB-BD31-4B8C-83A1-F6EECF244321}">
                <p14:modId xmlns:p14="http://schemas.microsoft.com/office/powerpoint/2010/main" val="1579011935"/>
              </p:ext>
            </p:extLst>
          </p:nvPr>
        </p:nvGraphicFramePr>
        <p:xfrm>
          <a:off x="822960" y="1783080"/>
          <a:ext cx="10515600" cy="914400"/>
        </p:xfrm>
        <a:graphic>
          <a:graphicData uri="http://schemas.openxmlformats.org/drawingml/2006/table">
            <a:tbl>
              <a:tblPr/>
              <a:tblGrid>
                <a:gridCol w="2926080"/>
                <a:gridCol w="3931920"/>
                <a:gridCol w="3657600"/>
              </a:tblGrid>
              <a:tr h="393192">
                <a:tc>
                  <a:txBody>
                    <a:bodyPr/>
                    <a:lstStyle/>
                    <a:p>
                      <a:pPr indent="0" marL="0">
                        <a:buNone/>
                      </a:pPr>
                      <a:r>
                        <a:rPr lang="en-US" sz="1300" b="1" dirty="0">
                          <a:solidFill>
                            <a:srgbClr val="FFFFFF"/>
                          </a:solidFill>
                        </a:rPr>
                        <a:t>Akun anggota</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0B1437"/>
                    </a:solidFill>
                  </a:tcPr>
                </a:tc>
                <a:tc>
                  <a:txBody>
                    <a:bodyPr/>
                    <a:lstStyle/>
                    <a:p>
                      <a:pPr indent="0" marL="0">
                        <a:buNone/>
                      </a:pPr>
                      <a:r>
                        <a:rPr lang="en-US" sz="1300" b="1" dirty="0">
                          <a:solidFill>
                            <a:srgbClr val="FFFFFF"/>
                          </a:solidFill>
                        </a:rPr>
                        <a:t>Kondisi data</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0B1437"/>
                    </a:solidFill>
                  </a:tcPr>
                </a:tc>
                <a:tc>
                  <a:txBody>
                    <a:bodyPr/>
                    <a:lstStyle/>
                    <a:p>
                      <a:pPr indent="0" marL="0">
                        <a:buNone/>
                      </a:pPr>
                      <a:r>
                        <a:rPr lang="en-US" sz="1300" b="1" dirty="0">
                          <a:solidFill>
                            <a:srgbClr val="FFFFFF"/>
                          </a:solidFill>
                        </a:rPr>
                        <a:t>Yang dapat dicoba</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0B1437"/>
                    </a:solidFill>
                  </a:tcPr>
                </a:tc>
              </a:tr>
              <a:tr h="393192">
                <a:tc>
                  <a:txBody>
                    <a:bodyPr/>
                    <a:lstStyle/>
                    <a:p>
                      <a:pPr indent="0" marL="0">
                        <a:buNone/>
                      </a:pPr>
                      <a:r>
                        <a:rPr lang="en-US" sz="1300" b="1" dirty="0">
                          <a:solidFill>
                            <a:srgbClr val="111827"/>
                          </a:solidFill>
                        </a:rPr>
                        <a:t>Budi Santoso</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Pinjaman lunas, syarat terpenuhi</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Ajukan pinjaman baru</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11827"/>
                          </a:solidFill>
                        </a:rPr>
                        <a:t>Siti Aminah</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Angsuran ke-2 terlambat sekitar 40 hari</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Lihat denda; admin kirim pengingat</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11827"/>
                          </a:solidFill>
                        </a:rPr>
                        <a:t>Agus Setiawan</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Angsuran ke-7 dibayar sebagian</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Verifikasi pembayaran sebagian</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11827"/>
                          </a:solidFill>
                        </a:rPr>
                        <a:t>Dedi Irawan</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Bukti bayar menunggu verifikasi</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Teller memverifikasi pembayaran</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11827"/>
                          </a:solidFill>
                        </a:rPr>
                        <a:t>Andi Wijaya, Lina Marlina</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Pengajuan pinjaman baru</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Admin tinjau, Manajer setujui</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11827"/>
                          </a:solidFill>
                        </a:rPr>
                        <a:t>Rudi Hartono</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Pinjaman Rp 12 juta disetujui</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Pencairan wajib Manajer</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11827"/>
                          </a:solidFill>
                        </a:rPr>
                        <a:t>Nina Kurniawati</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Disetujui dan sudah akad</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Pencairan oleh Teller</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11827"/>
                          </a:solidFill>
                        </a:rPr>
                        <a:t>Rina Oktaviani</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Simpanan wajib menunggak 4 bulan</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Tidak lolos syarat kelayakan</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r>
              <a:tr h="393192">
                <a:tc>
                  <a:txBody>
                    <a:bodyPr/>
                    <a:lstStyle/>
                    <a:p>
                      <a:pPr indent="0" marL="0">
                        <a:buNone/>
                      </a:pPr>
                      <a:r>
                        <a:rPr lang="en-US" sz="1300" b="1" dirty="0">
                          <a:solidFill>
                            <a:srgbClr val="111827"/>
                          </a:solidFill>
                        </a:rPr>
                        <a:t>Hendra Gunawan</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KYC menunggu, tanpa rekening</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c>
                  <a:txBody>
                    <a:bodyPr/>
                    <a:lstStyle/>
                    <a:p>
                      <a:pPr indent="0" marL="0">
                        <a:buNone/>
                      </a:pPr>
                      <a:r>
                        <a:rPr lang="en-US" sz="1300" dirty="0">
                          <a:solidFill>
                            <a:srgbClr val="111827"/>
                          </a:solidFill>
                        </a:rPr>
                        <a:t>Verifikasi KYC</a:t>
                      </a:r>
                      <a:endParaRPr lang="en-US" sz="1300" dirty="0"/>
                    </a:p>
                  </a:txBody>
                  <a:tcPr marL="91440" marR="91440" marT="0" marB="0" anchor="ctr">
                    <a:lnL w="12700" cap="flat" cmpd="sng" algn="ctr">
                      <a:solidFill>
                        <a:srgbClr val="DDE3EE"/>
                      </a:solidFill>
                      <a:prstDash val="solid"/>
                      <a:round/>
                      <a:headEnd type="none" w="med" len="med"/>
                      <a:tailEnd type="none" w="med" len="med"/>
                    </a:lnL>
                    <a:lnR w="12700" cap="flat" cmpd="sng" algn="ctr">
                      <a:solidFill>
                        <a:srgbClr val="DDE3EE"/>
                      </a:solidFill>
                      <a:prstDash val="solid"/>
                      <a:round/>
                      <a:headEnd type="none" w="med" len="med"/>
                      <a:tailEnd type="none" w="med" len="med"/>
                    </a:lnR>
                    <a:lnT w="12700" cap="flat" cmpd="sng" algn="ctr">
                      <a:solidFill>
                        <a:srgbClr val="DDE3EE"/>
                      </a:solidFill>
                      <a:prstDash val="solid"/>
                      <a:round/>
                      <a:headEnd type="none" w="med" len="med"/>
                      <a:tailEnd type="none" w="med" len="med"/>
                    </a:lnT>
                    <a:lnB w="12700" cap="flat" cmpd="sng" algn="ctr">
                      <a:solidFill>
                        <a:srgbClr val="DDE3EE"/>
                      </a:solidFill>
                      <a:prstDash val="solid"/>
                      <a:round/>
                      <a:headEnd type="none" w="med" len="med"/>
                      <a:tailEnd type="none" w="med" len="med"/>
                    </a:lnB>
                    <a:solidFill>
                      <a:srgbClr val="FFFFFF"/>
                    </a:solidFill>
                  </a:tcPr>
                </a:tc>
              </a:tr>
            </a:tbl>
          </a:graphicData>
        </a:graphic>
      </p:graphicFrame>
      <p:sp>
        <p:nvSpPr>
          <p:cNvPr id="5" name="Catatan skenario"/>
          <p:cNvSpPr txBox="1"/>
          <p:nvPr/>
        </p:nvSpPr>
        <p:spPr>
          <a:xfrm>
            <a:off x="822960" y="5852160"/>
            <a:ext cx="10515600" cy="457200"/>
          </a:xfrm>
          <a:prstGeom prst="rect">
            <a:avLst/>
          </a:prstGeom>
          <a:noFill/>
          <a:ln/>
        </p:spPr>
        <p:txBody>
          <a:bodyPr wrap="square" lIns="0" tIns="0" rIns="0" bIns="0" rtlCol="0" anchor="t"/>
          <a:lstStyle/>
          <a:p>
            <a:pPr indent="0" marL="0">
              <a:buNone/>
            </a:pPr>
            <a:r>
              <a:rPr lang="en-US" sz="1200" dirty="0">
                <a:solidFill>
                  <a:schemeClr val="accent6"/>
                </a:solidFill>
              </a:rPr>
              <a:t>Semua anggota memakai password anggota123 dan email nama.belakang@buyalatter.com. Tanggal data dihitung dari hari seed dijalankan.</a:t>
            </a:r>
            <a:endParaRPr lang="en-US" sz="12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KEPATUHAN</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Penagihan yang beretika dan tercatat</a:t>
            </a:r>
            <a:endParaRPr lang="en-US" sz="3200" dirty="0"/>
          </a:p>
        </p:txBody>
      </p:sp>
      <p:sp>
        <p:nvSpPr>
          <p:cNvPr id="4" name="Panel log penagihan"/>
          <p:cNvSpPr/>
          <p:nvPr/>
        </p:nvSpPr>
        <p:spPr>
          <a:xfrm>
            <a:off x="822960" y="1783080"/>
            <a:ext cx="6583680" cy="4343400"/>
          </a:xfrm>
          <a:prstGeom prst="roundRect">
            <a:avLst>
              <a:gd name="adj" fmla="val 4211"/>
            </a:avLst>
          </a:prstGeom>
          <a:solidFill>
            <a:schemeClr val="bg2"/>
          </a:solidFill>
          <a:ln/>
        </p:spPr>
      </p:sp>
      <p:sp>
        <p:nvSpPr>
          <p:cNvPr id="5" name="Jendela log penagihan"/>
          <p:cNvSpPr/>
          <p:nvPr/>
        </p:nvSpPr>
        <p:spPr>
          <a:xfrm>
            <a:off x="1143000" y="2148840"/>
            <a:ext cx="5943600" cy="3989070"/>
          </a:xfrm>
          <a:prstGeom prst="roundRect">
            <a:avLst>
              <a:gd name="adj" fmla="val 1834"/>
            </a:avLst>
          </a:prstGeom>
          <a:solidFill>
            <a:srgbClr val="FFFFFF"/>
          </a:solidFill>
          <a:ln w="12700">
            <a:solidFill>
              <a:srgbClr val="CBD5E1"/>
            </a:solidFill>
            <a:prstDash val="solid"/>
          </a:ln>
          <a:effectLst>
            <a:outerShdw sx="100000" sy="100000" kx="0" ky="0" algn="bl" rotWithShape="0" blurRad="152400" dist="50800" dir="5400000">
              <a:srgbClr val="0B1437">
                <a:alpha val="18000"/>
              </a:srgbClr>
            </a:outerShdw>
          </a:effectLst>
        </p:spPr>
      </p:sp>
      <p:sp>
        <p:nvSpPr>
          <p:cNvPr id="6" name="Bilah log penagihan"/>
          <p:cNvSpPr/>
          <p:nvPr/>
        </p:nvSpPr>
        <p:spPr>
          <a:xfrm>
            <a:off x="1152144" y="2157984"/>
            <a:ext cx="5925312" cy="265176"/>
          </a:xfrm>
          <a:prstGeom prst="rect">
            <a:avLst/>
          </a:prstGeom>
          <a:solidFill>
            <a:srgbClr val="E2E8F0"/>
          </a:solidFill>
          <a:ln/>
        </p:spPr>
      </p:sp>
      <p:sp>
        <p:nvSpPr>
          <p:cNvPr id="7" name="Titik 0"/>
          <p:cNvSpPr/>
          <p:nvPr/>
        </p:nvSpPr>
        <p:spPr>
          <a:xfrm>
            <a:off x="1271016" y="2231136"/>
            <a:ext cx="109728" cy="109728"/>
          </a:xfrm>
          <a:prstGeom prst="ellipse">
            <a:avLst/>
          </a:prstGeom>
          <a:solidFill>
            <a:srgbClr val="F87171"/>
          </a:solidFill>
          <a:ln/>
        </p:spPr>
      </p:sp>
      <p:sp>
        <p:nvSpPr>
          <p:cNvPr id="8" name="Titik 1"/>
          <p:cNvSpPr/>
          <p:nvPr/>
        </p:nvSpPr>
        <p:spPr>
          <a:xfrm>
            <a:off x="1453896" y="2231136"/>
            <a:ext cx="109728" cy="109728"/>
          </a:xfrm>
          <a:prstGeom prst="ellipse">
            <a:avLst/>
          </a:prstGeom>
          <a:solidFill>
            <a:srgbClr val="FBBF24"/>
          </a:solidFill>
          <a:ln/>
        </p:spPr>
      </p:sp>
      <p:sp>
        <p:nvSpPr>
          <p:cNvPr id="9" name="Titik 2"/>
          <p:cNvSpPr/>
          <p:nvPr/>
        </p:nvSpPr>
        <p:spPr>
          <a:xfrm>
            <a:off x="1636776" y="2231136"/>
            <a:ext cx="109728" cy="109728"/>
          </a:xfrm>
          <a:prstGeom prst="ellipse">
            <a:avLst/>
          </a:prstGeom>
          <a:solidFill>
            <a:srgbClr val="4ADE80"/>
          </a:solidFill>
          <a:ln/>
        </p:spPr>
      </p:sp>
      <p:pic>
        <p:nvPicPr>
          <p:cNvPr id="10" name="Layar log penagihan" descr="Tampilan desktop: log penagihan">    </p:cNvPr>
          <p:cNvPicPr>
            <a:picLocks noChangeAspect="1"/>
          </p:cNvPicPr>
          <p:nvPr/>
        </p:nvPicPr>
        <p:blipFill>
          <a:blip r:embed="rId1"/>
          <a:stretch>
            <a:fillRect/>
          </a:stretch>
        </p:blipFill>
        <p:spPr>
          <a:xfrm>
            <a:off x="1152144" y="2423160"/>
            <a:ext cx="5925312" cy="3705606"/>
          </a:xfrm>
          <a:prstGeom prst="rect">
            <a:avLst/>
          </a:prstGeom>
        </p:spPr>
      </p:pic>
      <p:sp>
        <p:nvSpPr>
          <p:cNvPr id="11" name="Nomor 1"/>
          <p:cNvSpPr txBox="1"/>
          <p:nvPr/>
        </p:nvSpPr>
        <p:spPr>
          <a:xfrm>
            <a:off x="7772400" y="18288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12" name="Poin 1"/>
          <p:cNvSpPr txBox="1"/>
          <p:nvPr/>
        </p:nvSpPr>
        <p:spPr>
          <a:xfrm>
            <a:off x="8366760" y="1828800"/>
            <a:ext cx="2971800" cy="941832"/>
          </a:xfrm>
          <a:prstGeom prst="rect">
            <a:avLst/>
          </a:prstGeom>
          <a:noFill/>
          <a:ln/>
        </p:spPr>
        <p:txBody>
          <a:bodyPr wrap="square" lIns="0" tIns="0" rIns="0" bIns="0" rtlCol="0" anchor="t"/>
          <a:lstStyle/>
          <a:p>
            <a:pPr indent="0" marL="0">
              <a:buNone/>
            </a:pPr>
            <a:r>
              <a:rPr lang="en-US" sz="1500" b="1" dirty="0">
                <a:solidFill>
                  <a:schemeClr val="tx2"/>
                </a:solidFill>
              </a:rPr>
              <a:t>Jam sopan</a:t>
            </a:r>
            <a:endParaRPr lang="en-US" sz="1500" dirty="0"/>
          </a:p>
          <a:p>
            <a:pPr indent="0" marL="0">
              <a:buNone/>
            </a:pPr>
            <a:r>
              <a:rPr lang="en-US" sz="1500" dirty="0">
                <a:solidFill>
                  <a:schemeClr val="tx1"/>
                </a:solidFill>
              </a:rPr>
              <a:t>Senin sampai Sabtu 08.00 sampai 20.00 WIB</a:t>
            </a:r>
            <a:endParaRPr lang="en-US" sz="1500" dirty="0"/>
          </a:p>
        </p:txBody>
      </p:sp>
      <p:sp>
        <p:nvSpPr>
          <p:cNvPr id="13" name="Nomor 2"/>
          <p:cNvSpPr txBox="1"/>
          <p:nvPr/>
        </p:nvSpPr>
        <p:spPr>
          <a:xfrm>
            <a:off x="7772400" y="288036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14" name="Poin 2"/>
          <p:cNvSpPr txBox="1"/>
          <p:nvPr/>
        </p:nvSpPr>
        <p:spPr>
          <a:xfrm>
            <a:off x="8366760" y="2880360"/>
            <a:ext cx="2971800" cy="941832"/>
          </a:xfrm>
          <a:prstGeom prst="rect">
            <a:avLst/>
          </a:prstGeom>
          <a:noFill/>
          <a:ln/>
        </p:spPr>
        <p:txBody>
          <a:bodyPr wrap="square" lIns="0" tIns="0" rIns="0" bIns="0" rtlCol="0" anchor="t"/>
          <a:lstStyle/>
          <a:p>
            <a:pPr indent="0" marL="0">
              <a:buNone/>
            </a:pPr>
            <a:r>
              <a:rPr lang="en-US" sz="1500" b="1" dirty="0">
                <a:solidFill>
                  <a:schemeClr val="tx2"/>
                </a:solidFill>
              </a:rPr>
              <a:t>Maksimal 1 per hari</a:t>
            </a:r>
            <a:endParaRPr lang="en-US" sz="1500" dirty="0"/>
          </a:p>
          <a:p>
            <a:pPr indent="0" marL="0">
              <a:buNone/>
            </a:pPr>
            <a:r>
              <a:rPr lang="en-US" sz="1500" dirty="0">
                <a:solidFill>
                  <a:schemeClr val="tx1"/>
                </a:solidFill>
              </a:rPr>
              <a:t>per anggota, semua saluran</a:t>
            </a:r>
            <a:endParaRPr lang="en-US" sz="1500" dirty="0"/>
          </a:p>
        </p:txBody>
      </p:sp>
      <p:sp>
        <p:nvSpPr>
          <p:cNvPr id="15" name="Nomor 3"/>
          <p:cNvSpPr txBox="1"/>
          <p:nvPr/>
        </p:nvSpPr>
        <p:spPr>
          <a:xfrm>
            <a:off x="7772400" y="393192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03</a:t>
            </a:r>
            <a:endParaRPr lang="en-US" sz="1800" dirty="0"/>
          </a:p>
        </p:txBody>
      </p:sp>
      <p:sp>
        <p:nvSpPr>
          <p:cNvPr id="16" name="Poin 3"/>
          <p:cNvSpPr txBox="1"/>
          <p:nvPr/>
        </p:nvSpPr>
        <p:spPr>
          <a:xfrm>
            <a:off x="8366760" y="3931920"/>
            <a:ext cx="2971800" cy="941832"/>
          </a:xfrm>
          <a:prstGeom prst="rect">
            <a:avLst/>
          </a:prstGeom>
          <a:noFill/>
          <a:ln/>
        </p:spPr>
        <p:txBody>
          <a:bodyPr wrap="square" lIns="0" tIns="0" rIns="0" bIns="0" rtlCol="0" anchor="t"/>
          <a:lstStyle/>
          <a:p>
            <a:pPr indent="0" marL="0">
              <a:buNone/>
            </a:pPr>
            <a:r>
              <a:rPr lang="en-US" sz="1500" b="1" dirty="0">
                <a:solidFill>
                  <a:schemeClr val="tx2"/>
                </a:solidFill>
              </a:rPr>
              <a:t>Hanya ke anggota</a:t>
            </a:r>
            <a:endParaRPr lang="en-US" sz="1500" dirty="0"/>
          </a:p>
          <a:p>
            <a:pPr indent="0" marL="0">
              <a:buNone/>
            </a:pPr>
            <a:r>
              <a:rPr lang="en-US" sz="1500" dirty="0">
                <a:solidFill>
                  <a:schemeClr val="tx1"/>
                </a:solidFill>
              </a:rPr>
              <a:t>tanpa menghubungi orang lain</a:t>
            </a:r>
            <a:endParaRPr lang="en-US" sz="1500" dirty="0"/>
          </a:p>
        </p:txBody>
      </p:sp>
      <p:sp>
        <p:nvSpPr>
          <p:cNvPr id="17" name="Nomor 4"/>
          <p:cNvSpPr txBox="1"/>
          <p:nvPr/>
        </p:nvSpPr>
        <p:spPr>
          <a:xfrm>
            <a:off x="7772400" y="498348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04</a:t>
            </a:r>
            <a:endParaRPr lang="en-US" sz="1800" dirty="0"/>
          </a:p>
        </p:txBody>
      </p:sp>
      <p:sp>
        <p:nvSpPr>
          <p:cNvPr id="18" name="Poin 4"/>
          <p:cNvSpPr txBox="1"/>
          <p:nvPr/>
        </p:nvSpPr>
        <p:spPr>
          <a:xfrm>
            <a:off x="8366760" y="4983480"/>
            <a:ext cx="2971800" cy="941832"/>
          </a:xfrm>
          <a:prstGeom prst="rect">
            <a:avLst/>
          </a:prstGeom>
          <a:noFill/>
          <a:ln/>
        </p:spPr>
        <p:txBody>
          <a:bodyPr wrap="square" lIns="0" tIns="0" rIns="0" bIns="0" rtlCol="0" anchor="t"/>
          <a:lstStyle/>
          <a:p>
            <a:pPr indent="0" marL="0">
              <a:buNone/>
            </a:pPr>
            <a:r>
              <a:rPr lang="en-US" sz="1500" b="1" dirty="0">
                <a:solidFill>
                  <a:schemeClr val="tx2"/>
                </a:solidFill>
              </a:rPr>
              <a:t>Ada bukti</a:t>
            </a:r>
            <a:endParaRPr lang="en-US" sz="1500" dirty="0"/>
          </a:p>
          <a:p>
            <a:pPr indent="0" marL="0">
              <a:buNone/>
            </a:pPr>
            <a:r>
              <a:rPr lang="en-US" sz="1500" dirty="0">
                <a:solidFill>
                  <a:schemeClr val="tx1"/>
                </a:solidFill>
              </a:rPr>
              <a:t>setiap pengingat masuk log</a:t>
            </a:r>
            <a:endParaRPr lang="en-US" sz="15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KEPATUHAN</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Dikunci oleh batas regulasi koperasi</a:t>
            </a:r>
            <a:endParaRPr lang="en-US" sz="3200" dirty="0"/>
          </a:p>
        </p:txBody>
      </p:sp>
      <p:sp>
        <p:nvSpPr>
          <p:cNvPr id="4" name="Kartu angka 24%"/>
          <p:cNvSpPr/>
          <p:nvPr/>
        </p:nvSpPr>
        <p:spPr>
          <a:xfrm>
            <a:off x="822960" y="1783080"/>
            <a:ext cx="2606040" cy="1920240"/>
          </a:xfrm>
          <a:prstGeom prst="roundRect">
            <a:avLst>
              <a:gd name="adj" fmla="val 6667"/>
            </a:avLst>
          </a:prstGeom>
          <a:solidFill>
            <a:schemeClr val="tx2"/>
          </a:solidFill>
          <a:ln w="12700">
            <a:solidFill>
              <a:srgbClr val="0B1437"/>
            </a:solidFill>
            <a:prstDash val="solid"/>
          </a:ln>
          <a:effectLst>
            <a:outerShdw sx="100000" sy="100000" kx="0" ky="0" algn="bl" rotWithShape="0" blurRad="127000" dist="38100" dir="5400000">
              <a:srgbClr val="0B1437">
                <a:alpha val="10000"/>
              </a:srgbClr>
            </a:outerShdw>
          </a:effectLst>
        </p:spPr>
      </p:sp>
      <p:sp>
        <p:nvSpPr>
          <p:cNvPr id="5" name="Angka 24%"/>
          <p:cNvSpPr txBox="1"/>
          <p:nvPr/>
        </p:nvSpPr>
        <p:spPr>
          <a:xfrm>
            <a:off x="1051560" y="1920240"/>
            <a:ext cx="2194560" cy="868680"/>
          </a:xfrm>
          <a:prstGeom prst="rect">
            <a:avLst/>
          </a:prstGeom>
          <a:noFill/>
          <a:ln/>
        </p:spPr>
        <p:txBody>
          <a:bodyPr wrap="square" lIns="0" tIns="0" rIns="0" bIns="0" rtlCol="0" anchor="ctr"/>
          <a:lstStyle/>
          <a:p>
            <a:pPr indent="0" marL="0">
              <a:buNone/>
            </a:pPr>
            <a:r>
              <a:rPr lang="en-US" sz="4400" b="1" dirty="0">
                <a:solidFill>
                  <a:srgbClr val="E3C77A"/>
                </a:solidFill>
                <a:latin typeface="Cambria" pitchFamily="34" charset="0"/>
                <a:ea typeface="Cambria" pitchFamily="34" charset="-122"/>
                <a:cs typeface="Cambria" pitchFamily="34" charset="-120"/>
              </a:rPr>
              <a:t>24%</a:t>
            </a:r>
            <a:endParaRPr lang="en-US" sz="4400" dirty="0"/>
          </a:p>
        </p:txBody>
      </p:sp>
      <p:sp>
        <p:nvSpPr>
          <p:cNvPr id="6" name="Arti 24%"/>
          <p:cNvSpPr txBox="1"/>
          <p:nvPr/>
        </p:nvSpPr>
        <p:spPr>
          <a:xfrm>
            <a:off x="1051560" y="2834640"/>
            <a:ext cx="2194560" cy="731520"/>
          </a:xfrm>
          <a:prstGeom prst="rect">
            <a:avLst/>
          </a:prstGeom>
          <a:noFill/>
          <a:ln/>
        </p:spPr>
        <p:txBody>
          <a:bodyPr wrap="square" lIns="0" tIns="0" rIns="0" bIns="0" rtlCol="0" anchor="t"/>
          <a:lstStyle/>
          <a:p>
            <a:pPr indent="0" marL="0">
              <a:buNone/>
            </a:pPr>
            <a:r>
              <a:rPr lang="en-US" sz="1300" dirty="0">
                <a:solidFill>
                  <a:srgbClr val="CADCFC"/>
                </a:solidFill>
              </a:rPr>
              <a:t>bunga pinjaman efektif per tahun, maksimal</a:t>
            </a:r>
            <a:endParaRPr lang="en-US" sz="1300" dirty="0"/>
          </a:p>
        </p:txBody>
      </p:sp>
      <p:sp>
        <p:nvSpPr>
          <p:cNvPr id="7" name="Kartu angka 9%"/>
          <p:cNvSpPr/>
          <p:nvPr/>
        </p:nvSpPr>
        <p:spPr>
          <a:xfrm>
            <a:off x="3611880" y="1783080"/>
            <a:ext cx="2606040" cy="1920240"/>
          </a:xfrm>
          <a:prstGeom prst="roundRect">
            <a:avLst>
              <a:gd name="adj" fmla="val 6667"/>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8" name="Angka 9%"/>
          <p:cNvSpPr txBox="1"/>
          <p:nvPr/>
        </p:nvSpPr>
        <p:spPr>
          <a:xfrm>
            <a:off x="3840480" y="1920240"/>
            <a:ext cx="2194560" cy="86868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9%</a:t>
            </a:r>
            <a:endParaRPr lang="en-US" sz="4400" dirty="0"/>
          </a:p>
        </p:txBody>
      </p:sp>
      <p:sp>
        <p:nvSpPr>
          <p:cNvPr id="9" name="Arti 9%"/>
          <p:cNvSpPr txBox="1"/>
          <p:nvPr/>
        </p:nvSpPr>
        <p:spPr>
          <a:xfrm>
            <a:off x="3840480" y="2834640"/>
            <a:ext cx="2194560" cy="731520"/>
          </a:xfrm>
          <a:prstGeom prst="rect">
            <a:avLst/>
          </a:prstGeom>
          <a:noFill/>
          <a:ln/>
        </p:spPr>
        <p:txBody>
          <a:bodyPr wrap="square" lIns="0" tIns="0" rIns="0" bIns="0" rtlCol="0" anchor="t"/>
          <a:lstStyle/>
          <a:p>
            <a:pPr indent="0" marL="0">
              <a:buNone/>
            </a:pPr>
            <a:r>
              <a:rPr lang="en-US" sz="1300" dirty="0">
                <a:solidFill>
                  <a:schemeClr val="tx1"/>
                </a:solidFill>
              </a:rPr>
              <a:t>bunga simpanan per tahun, maksimal</a:t>
            </a:r>
            <a:endParaRPr lang="en-US" sz="1300" dirty="0"/>
          </a:p>
        </p:txBody>
      </p:sp>
      <p:sp>
        <p:nvSpPr>
          <p:cNvPr id="10" name="Kartu angka 1%"/>
          <p:cNvSpPr/>
          <p:nvPr/>
        </p:nvSpPr>
        <p:spPr>
          <a:xfrm>
            <a:off x="822960" y="3886200"/>
            <a:ext cx="2606040" cy="1920240"/>
          </a:xfrm>
          <a:prstGeom prst="roundRect">
            <a:avLst>
              <a:gd name="adj" fmla="val 6667"/>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11" name="Angka 1%"/>
          <p:cNvSpPr txBox="1"/>
          <p:nvPr/>
        </p:nvSpPr>
        <p:spPr>
          <a:xfrm>
            <a:off x="1051560" y="4023360"/>
            <a:ext cx="2194560" cy="86868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1%</a:t>
            </a:r>
            <a:endParaRPr lang="en-US" sz="4400" dirty="0"/>
          </a:p>
        </p:txBody>
      </p:sp>
      <p:sp>
        <p:nvSpPr>
          <p:cNvPr id="12" name="Arti 1%"/>
          <p:cNvSpPr txBox="1"/>
          <p:nvPr/>
        </p:nvSpPr>
        <p:spPr>
          <a:xfrm>
            <a:off x="1051560" y="4937760"/>
            <a:ext cx="2194560" cy="731520"/>
          </a:xfrm>
          <a:prstGeom prst="rect">
            <a:avLst/>
          </a:prstGeom>
          <a:noFill/>
          <a:ln/>
        </p:spPr>
        <p:txBody>
          <a:bodyPr wrap="square" lIns="0" tIns="0" rIns="0" bIns="0" rtlCol="0" anchor="t"/>
          <a:lstStyle/>
          <a:p>
            <a:pPr indent="0" marL="0">
              <a:buNone/>
            </a:pPr>
            <a:r>
              <a:rPr lang="en-US" sz="1300" dirty="0">
                <a:solidFill>
                  <a:schemeClr val="tx1"/>
                </a:solidFill>
              </a:rPr>
              <a:t>biaya administrasi dari pokok, maksimal</a:t>
            </a:r>
            <a:endParaRPr lang="en-US" sz="1300" dirty="0"/>
          </a:p>
        </p:txBody>
      </p:sp>
      <p:sp>
        <p:nvSpPr>
          <p:cNvPr id="13" name="Kartu angka 10%"/>
          <p:cNvSpPr/>
          <p:nvPr/>
        </p:nvSpPr>
        <p:spPr>
          <a:xfrm>
            <a:off x="3611880" y="3886200"/>
            <a:ext cx="2606040" cy="1920240"/>
          </a:xfrm>
          <a:prstGeom prst="roundRect">
            <a:avLst>
              <a:gd name="adj" fmla="val 6667"/>
            </a:avLst>
          </a:prstGeom>
          <a:solidFill>
            <a:schemeClr val="tx2"/>
          </a:solidFill>
          <a:ln w="12700">
            <a:solidFill>
              <a:srgbClr val="0B1437"/>
            </a:solidFill>
            <a:prstDash val="solid"/>
          </a:ln>
          <a:effectLst>
            <a:outerShdw sx="100000" sy="100000" kx="0" ky="0" algn="bl" rotWithShape="0" blurRad="127000" dist="38100" dir="5400000">
              <a:srgbClr val="0B1437">
                <a:alpha val="10000"/>
              </a:srgbClr>
            </a:outerShdw>
          </a:effectLst>
        </p:spPr>
      </p:sp>
      <p:sp>
        <p:nvSpPr>
          <p:cNvPr id="14" name="Angka 10%"/>
          <p:cNvSpPr txBox="1"/>
          <p:nvPr/>
        </p:nvSpPr>
        <p:spPr>
          <a:xfrm>
            <a:off x="3840480" y="4023360"/>
            <a:ext cx="2194560" cy="868680"/>
          </a:xfrm>
          <a:prstGeom prst="rect">
            <a:avLst/>
          </a:prstGeom>
          <a:noFill/>
          <a:ln/>
        </p:spPr>
        <p:txBody>
          <a:bodyPr wrap="square" lIns="0" tIns="0" rIns="0" bIns="0" rtlCol="0" anchor="ctr"/>
          <a:lstStyle/>
          <a:p>
            <a:pPr indent="0" marL="0">
              <a:buNone/>
            </a:pPr>
            <a:r>
              <a:rPr lang="en-US" sz="4400" b="1" dirty="0">
                <a:solidFill>
                  <a:srgbClr val="E3C77A"/>
                </a:solidFill>
                <a:latin typeface="Cambria" pitchFamily="34" charset="0"/>
                <a:ea typeface="Cambria" pitchFamily="34" charset="-122"/>
                <a:cs typeface="Cambria" pitchFamily="34" charset="-120"/>
              </a:rPr>
              <a:t>10%</a:t>
            </a:r>
            <a:endParaRPr lang="en-US" sz="4400" dirty="0"/>
          </a:p>
        </p:txBody>
      </p:sp>
      <p:sp>
        <p:nvSpPr>
          <p:cNvPr id="15" name="Arti 10%"/>
          <p:cNvSpPr txBox="1"/>
          <p:nvPr/>
        </p:nvSpPr>
        <p:spPr>
          <a:xfrm>
            <a:off x="3840480" y="4937760"/>
            <a:ext cx="2194560" cy="731520"/>
          </a:xfrm>
          <a:prstGeom prst="rect">
            <a:avLst/>
          </a:prstGeom>
          <a:noFill/>
          <a:ln/>
        </p:spPr>
        <p:txBody>
          <a:bodyPr wrap="square" lIns="0" tIns="0" rIns="0" bIns="0" rtlCol="0" anchor="t"/>
          <a:lstStyle/>
          <a:p>
            <a:pPr indent="0" marL="0">
              <a:buNone/>
            </a:pPr>
            <a:r>
              <a:rPr lang="en-US" sz="1300" dirty="0">
                <a:solidFill>
                  <a:srgbClr val="CADCFC"/>
                </a:solidFill>
              </a:rPr>
              <a:t>total denda dari pokok, maksimal</a:t>
            </a:r>
            <a:endParaRPr lang="en-US" sz="1300" dirty="0"/>
          </a:p>
        </p:txBody>
      </p:sp>
      <p:sp>
        <p:nvSpPr>
          <p:cNvPr id="16" name="Catatan regulasi"/>
          <p:cNvSpPr txBox="1"/>
          <p:nvPr/>
        </p:nvSpPr>
        <p:spPr>
          <a:xfrm>
            <a:off x="822960" y="5989320"/>
            <a:ext cx="5394960" cy="365760"/>
          </a:xfrm>
          <a:prstGeom prst="rect">
            <a:avLst/>
          </a:prstGeom>
          <a:noFill/>
          <a:ln/>
        </p:spPr>
        <p:txBody>
          <a:bodyPr wrap="square" lIns="0" tIns="0" rIns="0" bIns="0" rtlCol="0" anchor="t"/>
          <a:lstStyle/>
          <a:p>
            <a:pPr indent="0" marL="0">
              <a:buNone/>
            </a:pPr>
            <a:r>
              <a:rPr lang="en-US" sz="1100" dirty="0">
                <a:solidFill>
                  <a:schemeClr val="accent6"/>
                </a:solidFill>
              </a:rPr>
              <a:t>Mengacu pada Permenkop UKM 8/2023 dan prinsip perlindungan konsumen POJK 22/2023. Nilai di atas batas ditolak server.</a:t>
            </a:r>
            <a:endParaRPr lang="en-US" sz="1100" dirty="0"/>
          </a:p>
        </p:txBody>
      </p:sp>
      <p:sp>
        <p:nvSpPr>
          <p:cNvPr id="17" name="Panel pengaturan"/>
          <p:cNvSpPr/>
          <p:nvPr/>
        </p:nvSpPr>
        <p:spPr>
          <a:xfrm>
            <a:off x="6583680" y="1783080"/>
            <a:ext cx="4754880" cy="4343400"/>
          </a:xfrm>
          <a:prstGeom prst="roundRect">
            <a:avLst>
              <a:gd name="adj" fmla="val 4211"/>
            </a:avLst>
          </a:prstGeom>
          <a:solidFill>
            <a:schemeClr val="bg2"/>
          </a:solidFill>
          <a:ln/>
        </p:spPr>
      </p:sp>
      <p:sp>
        <p:nvSpPr>
          <p:cNvPr id="18" name="Jendela pengaturan koperasi"/>
          <p:cNvSpPr/>
          <p:nvPr/>
        </p:nvSpPr>
        <p:spPr>
          <a:xfrm>
            <a:off x="6812280" y="2194560"/>
            <a:ext cx="4297680" cy="2960370"/>
          </a:xfrm>
          <a:prstGeom prst="roundRect">
            <a:avLst>
              <a:gd name="adj" fmla="val 2471"/>
            </a:avLst>
          </a:prstGeom>
          <a:solidFill>
            <a:srgbClr val="FFFFFF"/>
          </a:solidFill>
          <a:ln w="12700">
            <a:solidFill>
              <a:srgbClr val="CBD5E1"/>
            </a:solidFill>
            <a:prstDash val="solid"/>
          </a:ln>
          <a:effectLst>
            <a:outerShdw sx="100000" sy="100000" kx="0" ky="0" algn="bl" rotWithShape="0" blurRad="152400" dist="50800" dir="5400000">
              <a:srgbClr val="0B1437">
                <a:alpha val="18000"/>
              </a:srgbClr>
            </a:outerShdw>
          </a:effectLst>
        </p:spPr>
      </p:sp>
      <p:sp>
        <p:nvSpPr>
          <p:cNvPr id="19" name="Bilah pengaturan koperasi"/>
          <p:cNvSpPr/>
          <p:nvPr/>
        </p:nvSpPr>
        <p:spPr>
          <a:xfrm>
            <a:off x="6821424" y="2203704"/>
            <a:ext cx="4279392" cy="265176"/>
          </a:xfrm>
          <a:prstGeom prst="rect">
            <a:avLst/>
          </a:prstGeom>
          <a:solidFill>
            <a:srgbClr val="E2E8F0"/>
          </a:solidFill>
          <a:ln/>
        </p:spPr>
      </p:sp>
      <p:sp>
        <p:nvSpPr>
          <p:cNvPr id="20" name="Titik 0"/>
          <p:cNvSpPr/>
          <p:nvPr/>
        </p:nvSpPr>
        <p:spPr>
          <a:xfrm>
            <a:off x="6940296" y="2276856"/>
            <a:ext cx="109728" cy="109728"/>
          </a:xfrm>
          <a:prstGeom prst="ellipse">
            <a:avLst/>
          </a:prstGeom>
          <a:solidFill>
            <a:srgbClr val="F87171"/>
          </a:solidFill>
          <a:ln/>
        </p:spPr>
      </p:sp>
      <p:sp>
        <p:nvSpPr>
          <p:cNvPr id="21" name="Titik 1"/>
          <p:cNvSpPr/>
          <p:nvPr/>
        </p:nvSpPr>
        <p:spPr>
          <a:xfrm>
            <a:off x="7123176" y="2276856"/>
            <a:ext cx="109728" cy="109728"/>
          </a:xfrm>
          <a:prstGeom prst="ellipse">
            <a:avLst/>
          </a:prstGeom>
          <a:solidFill>
            <a:srgbClr val="FBBF24"/>
          </a:solidFill>
          <a:ln/>
        </p:spPr>
      </p:sp>
      <p:sp>
        <p:nvSpPr>
          <p:cNvPr id="22" name="Titik 2"/>
          <p:cNvSpPr/>
          <p:nvPr/>
        </p:nvSpPr>
        <p:spPr>
          <a:xfrm>
            <a:off x="7306056" y="2276856"/>
            <a:ext cx="109728" cy="109728"/>
          </a:xfrm>
          <a:prstGeom prst="ellipse">
            <a:avLst/>
          </a:prstGeom>
          <a:solidFill>
            <a:srgbClr val="4ADE80"/>
          </a:solidFill>
          <a:ln/>
        </p:spPr>
      </p:sp>
      <p:pic>
        <p:nvPicPr>
          <p:cNvPr id="23" name="Layar pengaturan koperasi" descr="Tampilan desktop: pengaturan koperasi">    </p:cNvPr>
          <p:cNvPicPr>
            <a:picLocks noChangeAspect="1"/>
          </p:cNvPicPr>
          <p:nvPr/>
        </p:nvPicPr>
        <p:blipFill>
          <a:blip r:embed="rId1"/>
          <a:stretch>
            <a:fillRect/>
          </a:stretch>
        </p:blipFill>
        <p:spPr>
          <a:xfrm>
            <a:off x="6821424" y="2468880"/>
            <a:ext cx="4279392" cy="2676906"/>
          </a:xfrm>
          <a:prstGeom prst="rect">
            <a:avLst/>
          </a:prstGeom>
        </p:spPr>
      </p:pic>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KEPATUHAN</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Perlindungan anggota dan data</a:t>
            </a:r>
            <a:endParaRPr lang="en-US" sz="3200" dirty="0"/>
          </a:p>
        </p:txBody>
      </p:sp>
      <p:sp>
        <p:nvSpPr>
          <p:cNvPr id="4" name="Panel Perlindungan anggota dan data"/>
          <p:cNvSpPr/>
          <p:nvPr/>
        </p:nvSpPr>
        <p:spPr>
          <a:xfrm>
            <a:off x="822960" y="1783080"/>
            <a:ext cx="5486400" cy="4343400"/>
          </a:xfrm>
          <a:prstGeom prst="roundRect">
            <a:avLst>
              <a:gd name="adj" fmla="val 4211"/>
            </a:avLst>
          </a:prstGeom>
          <a:solidFill>
            <a:schemeClr val="bg2"/>
          </a:solidFill>
          <a:ln/>
        </p:spPr>
      </p:sp>
      <p:sp>
        <p:nvSpPr>
          <p:cNvPr id="5" name="Bingkai HP hak anggota"/>
          <p:cNvSpPr/>
          <p:nvPr/>
        </p:nvSpPr>
        <p:spPr>
          <a:xfrm>
            <a:off x="1051560" y="2011680"/>
            <a:ext cx="1864673" cy="3886200"/>
          </a:xfrm>
          <a:prstGeom prst="roundRect">
            <a:avLst>
              <a:gd name="adj" fmla="val 10788"/>
            </a:avLst>
          </a:prstGeom>
          <a:solidFill>
            <a:srgbClr val="0B1437"/>
          </a:solidFill>
          <a:ln w="12700">
            <a:solidFill>
              <a:srgbClr val="334155"/>
            </a:solidFill>
            <a:prstDash val="solid"/>
          </a:ln>
          <a:effectLst>
            <a:outerShdw sx="100000" sy="100000" kx="0" ky="0" algn="bl" rotWithShape="0" blurRad="152400" dist="50800" dir="5400000">
              <a:srgbClr val="000000">
                <a:alpha val="30000"/>
              </a:srgbClr>
            </a:outerShdw>
          </a:effectLst>
        </p:spPr>
      </p:sp>
      <p:pic>
        <p:nvPicPr>
          <p:cNvPr id="6" name="Layar HP hak anggota" descr="Tampilan HP: hak anggota">    </p:cNvPr>
          <p:cNvPicPr>
            <a:picLocks noChangeAspect="1"/>
          </p:cNvPicPr>
          <p:nvPr/>
        </p:nvPicPr>
        <p:blipFill>
          <a:blip r:embed="rId1"/>
          <a:stretch>
            <a:fillRect/>
          </a:stretch>
        </p:blipFill>
        <p:spPr>
          <a:xfrm>
            <a:off x="1115568" y="2075688"/>
            <a:ext cx="1736657" cy="3758184"/>
          </a:xfrm>
          <a:prstGeom prst="rect">
            <a:avLst/>
          </a:prstGeom>
        </p:spPr>
      </p:pic>
      <p:sp>
        <p:nvSpPr>
          <p:cNvPr id="7" name="Bingkai HP pengaduan"/>
          <p:cNvSpPr/>
          <p:nvPr/>
        </p:nvSpPr>
        <p:spPr>
          <a:xfrm>
            <a:off x="3190553" y="2011680"/>
            <a:ext cx="1864673" cy="3886200"/>
          </a:xfrm>
          <a:prstGeom prst="roundRect">
            <a:avLst>
              <a:gd name="adj" fmla="val 10788"/>
            </a:avLst>
          </a:prstGeom>
          <a:solidFill>
            <a:srgbClr val="0B1437"/>
          </a:solidFill>
          <a:ln w="12700">
            <a:solidFill>
              <a:srgbClr val="334155"/>
            </a:solidFill>
            <a:prstDash val="solid"/>
          </a:ln>
          <a:effectLst>
            <a:outerShdw sx="100000" sy="100000" kx="0" ky="0" algn="bl" rotWithShape="0" blurRad="152400" dist="50800" dir="5400000">
              <a:srgbClr val="000000">
                <a:alpha val="30000"/>
              </a:srgbClr>
            </a:outerShdw>
          </a:effectLst>
        </p:spPr>
      </p:sp>
      <p:pic>
        <p:nvPicPr>
          <p:cNvPr id="8" name="Layar HP pengaduan" descr="Tampilan HP: pengaduan">    </p:cNvPr>
          <p:cNvPicPr>
            <a:picLocks noChangeAspect="1"/>
          </p:cNvPicPr>
          <p:nvPr/>
        </p:nvPicPr>
        <p:blipFill>
          <a:blip r:embed="rId2"/>
          <a:stretch>
            <a:fillRect/>
          </a:stretch>
        </p:blipFill>
        <p:spPr>
          <a:xfrm>
            <a:off x="3254561" y="2075688"/>
            <a:ext cx="1736657" cy="3758184"/>
          </a:xfrm>
          <a:prstGeom prst="rect">
            <a:avLst/>
          </a:prstGeom>
        </p:spPr>
      </p:pic>
      <p:sp>
        <p:nvSpPr>
          <p:cNvPr id="9" name="Nomor 1"/>
          <p:cNvSpPr txBox="1"/>
          <p:nvPr/>
        </p:nvSpPr>
        <p:spPr>
          <a:xfrm>
            <a:off x="6858000" y="18288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10" name="Poin 1"/>
          <p:cNvSpPr txBox="1"/>
          <p:nvPr/>
        </p:nvSpPr>
        <p:spPr>
          <a:xfrm>
            <a:off x="7452360" y="18288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Halaman Hak Anggota</a:t>
            </a:r>
            <a:endParaRPr lang="en-US" sz="1500" dirty="0"/>
          </a:p>
          <a:p>
            <a:pPr indent="0" marL="0">
              <a:buNone/>
            </a:pPr>
            <a:r>
              <a:rPr lang="en-US" sz="1500" dirty="0">
                <a:solidFill>
                  <a:schemeClr val="tx1"/>
                </a:solidFill>
              </a:rPr>
              <a:t>terbuka dan ringkas</a:t>
            </a:r>
            <a:endParaRPr lang="en-US" sz="1500" dirty="0"/>
          </a:p>
        </p:txBody>
      </p:sp>
      <p:sp>
        <p:nvSpPr>
          <p:cNvPr id="11" name="Nomor 2"/>
          <p:cNvSpPr txBox="1"/>
          <p:nvPr/>
        </p:nvSpPr>
        <p:spPr>
          <a:xfrm>
            <a:off x="6858000" y="27432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12" name="Poin 2"/>
          <p:cNvSpPr txBox="1"/>
          <p:nvPr/>
        </p:nvSpPr>
        <p:spPr>
          <a:xfrm>
            <a:off x="7452360" y="27432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Pengaduan</a:t>
            </a:r>
            <a:endParaRPr lang="en-US" sz="1500" dirty="0"/>
          </a:p>
          <a:p>
            <a:pPr indent="0" marL="0">
              <a:buNone/>
            </a:pPr>
            <a:r>
              <a:rPr lang="en-US" sz="1500" dirty="0">
                <a:solidFill>
                  <a:schemeClr val="tx1"/>
                </a:solidFill>
              </a:rPr>
              <a:t>keluhan dan lampiran, ditanggapi pengurus</a:t>
            </a:r>
            <a:endParaRPr lang="en-US" sz="1500" dirty="0"/>
          </a:p>
        </p:txBody>
      </p:sp>
      <p:sp>
        <p:nvSpPr>
          <p:cNvPr id="13" name="Nomor 3"/>
          <p:cNvSpPr txBox="1"/>
          <p:nvPr/>
        </p:nvSpPr>
        <p:spPr>
          <a:xfrm>
            <a:off x="6858000" y="36576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03</a:t>
            </a:r>
            <a:endParaRPr lang="en-US" sz="1800" dirty="0"/>
          </a:p>
        </p:txBody>
      </p:sp>
      <p:sp>
        <p:nvSpPr>
          <p:cNvPr id="14" name="Poin 3"/>
          <p:cNvSpPr txBox="1"/>
          <p:nvPr/>
        </p:nvSpPr>
        <p:spPr>
          <a:xfrm>
            <a:off x="7452360" y="36576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Laporkan penagihan</a:t>
            </a:r>
            <a:endParaRPr lang="en-US" sz="1500" dirty="0"/>
          </a:p>
          <a:p>
            <a:pPr indent="0" marL="0">
              <a:buNone/>
            </a:pPr>
            <a:r>
              <a:rPr lang="en-US" sz="1500" dirty="0">
                <a:solidFill>
                  <a:schemeClr val="tx1"/>
                </a:solidFill>
              </a:rPr>
              <a:t>pelanggaran etika bisa dilaporkan</a:t>
            </a:r>
            <a:endParaRPr lang="en-US" sz="1500" dirty="0"/>
          </a:p>
        </p:txBody>
      </p:sp>
      <p:sp>
        <p:nvSpPr>
          <p:cNvPr id="15" name="Nomor 4"/>
          <p:cNvSpPr txBox="1"/>
          <p:nvPr/>
        </p:nvSpPr>
        <p:spPr>
          <a:xfrm>
            <a:off x="6858000" y="45720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04</a:t>
            </a:r>
            <a:endParaRPr lang="en-US" sz="1800" dirty="0"/>
          </a:p>
        </p:txBody>
      </p:sp>
      <p:sp>
        <p:nvSpPr>
          <p:cNvPr id="16" name="Poin 4"/>
          <p:cNvSpPr txBox="1"/>
          <p:nvPr/>
        </p:nvSpPr>
        <p:spPr>
          <a:xfrm>
            <a:off x="7452360" y="45720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Data milik anggota</a:t>
            </a:r>
            <a:endParaRPr lang="en-US" sz="1500" dirty="0"/>
          </a:p>
          <a:p>
            <a:pPr indent="0" marL="0">
              <a:buNone/>
            </a:pPr>
            <a:r>
              <a:rPr lang="en-US" sz="1500" dirty="0">
                <a:solidFill>
                  <a:schemeClr val="tx1"/>
                </a:solidFill>
              </a:rPr>
              <a:t>unduh data atau tutup akun</a:t>
            </a:r>
            <a:endParaRPr lang="en-US" sz="1500" dirty="0"/>
          </a:p>
        </p:txBody>
      </p:sp>
      <p:sp>
        <p:nvSpPr>
          <p:cNvPr id="17" name="Nomor 5"/>
          <p:cNvSpPr txBox="1"/>
          <p:nvPr/>
        </p:nvSpPr>
        <p:spPr>
          <a:xfrm>
            <a:off x="6858000" y="54864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05</a:t>
            </a:r>
            <a:endParaRPr lang="en-US" sz="1800" dirty="0"/>
          </a:p>
        </p:txBody>
      </p:sp>
      <p:sp>
        <p:nvSpPr>
          <p:cNvPr id="18" name="Poin 5"/>
          <p:cNvSpPr txBox="1"/>
          <p:nvPr/>
        </p:nvSpPr>
        <p:spPr>
          <a:xfrm>
            <a:off x="7452360" y="54864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Persetujuan terpisah</a:t>
            </a:r>
            <a:endParaRPr lang="en-US" sz="1500" dirty="0"/>
          </a:p>
          <a:p>
            <a:pPr indent="0" marL="0">
              <a:buNone/>
            </a:pPr>
            <a:r>
              <a:rPr lang="en-US" sz="1500" dirty="0">
                <a:solidFill>
                  <a:schemeClr val="tx1"/>
                </a:solidFill>
              </a:rPr>
              <a:t>per tujuan, dengan versi kebijakan</a:t>
            </a:r>
            <a:endParaRPr lang="en-US" sz="15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KEAMANAN</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Keamanan sistem berlapis</a:t>
            </a:r>
            <a:endParaRPr lang="en-US" sz="3200" dirty="0"/>
          </a:p>
        </p:txBody>
      </p:sp>
      <p:sp>
        <p:nvSpPr>
          <p:cNvPr id="4" name="Kartu Akses"/>
          <p:cNvSpPr/>
          <p:nvPr/>
        </p:nvSpPr>
        <p:spPr>
          <a:xfrm>
            <a:off x="822960" y="1783080"/>
            <a:ext cx="2514600" cy="2011680"/>
          </a:xfrm>
          <a:prstGeom prst="roundRect">
            <a:avLst>
              <a:gd name="adj" fmla="val 6364"/>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5" name="Lingkaran Akses"/>
          <p:cNvSpPr/>
          <p:nvPr/>
        </p:nvSpPr>
        <p:spPr>
          <a:xfrm>
            <a:off x="1051560" y="2011680"/>
            <a:ext cx="548640" cy="548640"/>
          </a:xfrm>
          <a:prstGeom prst="ellipse">
            <a:avLst/>
          </a:prstGeom>
          <a:solidFill>
            <a:srgbClr val="1E5FC7"/>
          </a:solidFill>
          <a:ln/>
        </p:spPr>
      </p:sp>
      <p:pic>
        <p:nvPicPr>
          <p:cNvPr id="6" name="Ikon Akses" descr="Akses">    </p:cNvPr>
          <p:cNvPicPr>
            <a:picLocks noChangeAspect="1"/>
          </p:cNvPicPr>
          <p:nvPr/>
        </p:nvPicPr>
        <p:blipFill>
          <a:blip r:embed="rId1"/>
          <a:stretch>
            <a:fillRect/>
          </a:stretch>
        </p:blipFill>
        <p:spPr>
          <a:xfrm>
            <a:off x="1188720" y="2148840"/>
            <a:ext cx="274320" cy="274320"/>
          </a:xfrm>
          <a:prstGeom prst="rect">
            <a:avLst/>
          </a:prstGeom>
        </p:spPr>
      </p:pic>
      <p:sp>
        <p:nvSpPr>
          <p:cNvPr id="7" name="Judul Akses"/>
          <p:cNvSpPr txBox="1"/>
          <p:nvPr/>
        </p:nvSpPr>
        <p:spPr>
          <a:xfrm>
            <a:off x="1051560" y="2679192"/>
            <a:ext cx="210312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Akses</a:t>
            </a:r>
            <a:endParaRPr lang="en-US" sz="1600" dirty="0"/>
          </a:p>
        </p:txBody>
      </p:sp>
      <p:sp>
        <p:nvSpPr>
          <p:cNvPr id="8" name="Uraian Akses"/>
          <p:cNvSpPr txBox="1"/>
          <p:nvPr/>
        </p:nvSpPr>
        <p:spPr>
          <a:xfrm>
            <a:off x="1051560" y="3017520"/>
            <a:ext cx="2103120" cy="685800"/>
          </a:xfrm>
          <a:prstGeom prst="rect">
            <a:avLst/>
          </a:prstGeom>
          <a:noFill/>
          <a:ln/>
        </p:spPr>
        <p:txBody>
          <a:bodyPr wrap="square" lIns="0" tIns="0" rIns="0" bIns="0" rtlCol="0" anchor="t"/>
          <a:lstStyle/>
          <a:p>
            <a:pPr indent="0" marL="0">
              <a:buNone/>
            </a:pPr>
            <a:r>
              <a:rPr lang="en-US" sz="1200" dirty="0">
                <a:solidFill>
                  <a:schemeClr val="tx1"/>
                </a:solidFill>
              </a:rPr>
              <a:t>Password di-hash, kunci login 15 menit, sesi 30 menit</a:t>
            </a:r>
            <a:endParaRPr lang="en-US" sz="1200" dirty="0"/>
          </a:p>
        </p:txBody>
      </p:sp>
      <p:sp>
        <p:nvSpPr>
          <p:cNvPr id="9" name="Kartu Peran"/>
          <p:cNvSpPr/>
          <p:nvPr/>
        </p:nvSpPr>
        <p:spPr>
          <a:xfrm>
            <a:off x="3502152" y="1783080"/>
            <a:ext cx="2514600" cy="2011680"/>
          </a:xfrm>
          <a:prstGeom prst="roundRect">
            <a:avLst>
              <a:gd name="adj" fmla="val 6364"/>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10" name="Lingkaran Peran"/>
          <p:cNvSpPr/>
          <p:nvPr/>
        </p:nvSpPr>
        <p:spPr>
          <a:xfrm>
            <a:off x="3730752" y="2011680"/>
            <a:ext cx="548640" cy="548640"/>
          </a:xfrm>
          <a:prstGeom prst="ellipse">
            <a:avLst/>
          </a:prstGeom>
          <a:solidFill>
            <a:srgbClr val="0B1437"/>
          </a:solidFill>
          <a:ln/>
        </p:spPr>
      </p:sp>
      <p:pic>
        <p:nvPicPr>
          <p:cNvPr id="11" name="Ikon Peran" descr="Peran">    </p:cNvPr>
          <p:cNvPicPr>
            <a:picLocks noChangeAspect="1"/>
          </p:cNvPicPr>
          <p:nvPr/>
        </p:nvPicPr>
        <p:blipFill>
          <a:blip r:embed="rId2"/>
          <a:stretch>
            <a:fillRect/>
          </a:stretch>
        </p:blipFill>
        <p:spPr>
          <a:xfrm>
            <a:off x="3867912" y="2148840"/>
            <a:ext cx="274320" cy="274320"/>
          </a:xfrm>
          <a:prstGeom prst="rect">
            <a:avLst/>
          </a:prstGeom>
        </p:spPr>
      </p:pic>
      <p:sp>
        <p:nvSpPr>
          <p:cNvPr id="12" name="Judul Peran"/>
          <p:cNvSpPr txBox="1"/>
          <p:nvPr/>
        </p:nvSpPr>
        <p:spPr>
          <a:xfrm>
            <a:off x="3730752" y="2679192"/>
            <a:ext cx="210312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Peran</a:t>
            </a:r>
            <a:endParaRPr lang="en-US" sz="1600" dirty="0"/>
          </a:p>
        </p:txBody>
      </p:sp>
      <p:sp>
        <p:nvSpPr>
          <p:cNvPr id="13" name="Uraian Peran"/>
          <p:cNvSpPr txBox="1"/>
          <p:nvPr/>
        </p:nvSpPr>
        <p:spPr>
          <a:xfrm>
            <a:off x="3730752" y="3017520"/>
            <a:ext cx="2103120" cy="685800"/>
          </a:xfrm>
          <a:prstGeom prst="rect">
            <a:avLst/>
          </a:prstGeom>
          <a:noFill/>
          <a:ln/>
        </p:spPr>
        <p:txBody>
          <a:bodyPr wrap="square" lIns="0" tIns="0" rIns="0" bIns="0" rtlCol="0" anchor="t"/>
          <a:lstStyle/>
          <a:p>
            <a:pPr indent="0" marL="0">
              <a:buNone/>
            </a:pPr>
            <a:r>
              <a:rPr lang="en-US" sz="1200" dirty="0">
                <a:solidFill>
                  <a:schemeClr val="tx1"/>
                </a:solidFill>
              </a:rPr>
              <a:t>4 peran; halaman tak berhak tampil 404</a:t>
            </a:r>
            <a:endParaRPr lang="en-US" sz="1200" dirty="0"/>
          </a:p>
        </p:txBody>
      </p:sp>
      <p:sp>
        <p:nvSpPr>
          <p:cNvPr id="14" name="Kartu Berkas privat"/>
          <p:cNvSpPr/>
          <p:nvPr/>
        </p:nvSpPr>
        <p:spPr>
          <a:xfrm>
            <a:off x="6181344" y="1783080"/>
            <a:ext cx="2514600" cy="2011680"/>
          </a:xfrm>
          <a:prstGeom prst="roundRect">
            <a:avLst>
              <a:gd name="adj" fmla="val 6364"/>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15" name="Lingkaran Berkas privat"/>
          <p:cNvSpPr/>
          <p:nvPr/>
        </p:nvSpPr>
        <p:spPr>
          <a:xfrm>
            <a:off x="6409944" y="2011680"/>
            <a:ext cx="548640" cy="548640"/>
          </a:xfrm>
          <a:prstGeom prst="ellipse">
            <a:avLst/>
          </a:prstGeom>
          <a:solidFill>
            <a:srgbClr val="1E5FC7"/>
          </a:solidFill>
          <a:ln/>
        </p:spPr>
      </p:sp>
      <p:pic>
        <p:nvPicPr>
          <p:cNvPr id="16" name="Ikon Berkas privat" descr="Berkas privat">    </p:cNvPr>
          <p:cNvPicPr>
            <a:picLocks noChangeAspect="1"/>
          </p:cNvPicPr>
          <p:nvPr/>
        </p:nvPicPr>
        <p:blipFill>
          <a:blip r:embed="rId3"/>
          <a:stretch>
            <a:fillRect/>
          </a:stretch>
        </p:blipFill>
        <p:spPr>
          <a:xfrm>
            <a:off x="6547104" y="2148840"/>
            <a:ext cx="274320" cy="274320"/>
          </a:xfrm>
          <a:prstGeom prst="rect">
            <a:avLst/>
          </a:prstGeom>
        </p:spPr>
      </p:pic>
      <p:sp>
        <p:nvSpPr>
          <p:cNvPr id="17" name="Judul Berkas privat"/>
          <p:cNvSpPr txBox="1"/>
          <p:nvPr/>
        </p:nvSpPr>
        <p:spPr>
          <a:xfrm>
            <a:off x="6409944" y="2679192"/>
            <a:ext cx="210312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Berkas privat</a:t>
            </a:r>
            <a:endParaRPr lang="en-US" sz="1600" dirty="0"/>
          </a:p>
        </p:txBody>
      </p:sp>
      <p:sp>
        <p:nvSpPr>
          <p:cNvPr id="18" name="Uraian Berkas privat"/>
          <p:cNvSpPr txBox="1"/>
          <p:nvPr/>
        </p:nvSpPr>
        <p:spPr>
          <a:xfrm>
            <a:off x="6409944" y="3017520"/>
            <a:ext cx="2103120" cy="685800"/>
          </a:xfrm>
          <a:prstGeom prst="rect">
            <a:avLst/>
          </a:prstGeom>
          <a:noFill/>
          <a:ln/>
        </p:spPr>
        <p:txBody>
          <a:bodyPr wrap="square" lIns="0" tIns="0" rIns="0" bIns="0" rtlCol="0" anchor="t"/>
          <a:lstStyle/>
          <a:p>
            <a:pPr indent="0" marL="0">
              <a:buNone/>
            </a:pPr>
            <a:r>
              <a:rPr lang="en-US" sz="1200" dirty="0">
                <a:solidFill>
                  <a:schemeClr val="tx1"/>
                </a:solidFill>
              </a:rPr>
              <a:t>KTP dan bukti di luar folder publik, tipe dicek</a:t>
            </a:r>
            <a:endParaRPr lang="en-US" sz="1200" dirty="0"/>
          </a:p>
        </p:txBody>
      </p:sp>
      <p:sp>
        <p:nvSpPr>
          <p:cNvPr id="19" name="Kartu Jejak audit"/>
          <p:cNvSpPr/>
          <p:nvPr/>
        </p:nvSpPr>
        <p:spPr>
          <a:xfrm>
            <a:off x="8860536" y="1783080"/>
            <a:ext cx="2514600" cy="2011680"/>
          </a:xfrm>
          <a:prstGeom prst="roundRect">
            <a:avLst>
              <a:gd name="adj" fmla="val 6364"/>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20" name="Lingkaran Jejak audit"/>
          <p:cNvSpPr/>
          <p:nvPr/>
        </p:nvSpPr>
        <p:spPr>
          <a:xfrm>
            <a:off x="9089136" y="2011680"/>
            <a:ext cx="548640" cy="548640"/>
          </a:xfrm>
          <a:prstGeom prst="ellipse">
            <a:avLst/>
          </a:prstGeom>
          <a:solidFill>
            <a:srgbClr val="0B1437"/>
          </a:solidFill>
          <a:ln/>
        </p:spPr>
      </p:sp>
      <p:pic>
        <p:nvPicPr>
          <p:cNvPr id="21" name="Ikon Jejak audit" descr="Jejak audit">    </p:cNvPr>
          <p:cNvPicPr>
            <a:picLocks noChangeAspect="1"/>
          </p:cNvPicPr>
          <p:nvPr/>
        </p:nvPicPr>
        <p:blipFill>
          <a:blip r:embed="rId4"/>
          <a:stretch>
            <a:fillRect/>
          </a:stretch>
        </p:blipFill>
        <p:spPr>
          <a:xfrm>
            <a:off x="9226296" y="2148840"/>
            <a:ext cx="274320" cy="274320"/>
          </a:xfrm>
          <a:prstGeom prst="rect">
            <a:avLst/>
          </a:prstGeom>
        </p:spPr>
      </p:pic>
      <p:sp>
        <p:nvSpPr>
          <p:cNvPr id="22" name="Judul Jejak audit"/>
          <p:cNvSpPr txBox="1"/>
          <p:nvPr/>
        </p:nvSpPr>
        <p:spPr>
          <a:xfrm>
            <a:off x="9089136" y="2679192"/>
            <a:ext cx="210312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Jejak audit</a:t>
            </a:r>
            <a:endParaRPr lang="en-US" sz="1600" dirty="0"/>
          </a:p>
        </p:txBody>
      </p:sp>
      <p:sp>
        <p:nvSpPr>
          <p:cNvPr id="23" name="Uraian Jejak audit"/>
          <p:cNvSpPr txBox="1"/>
          <p:nvPr/>
        </p:nvSpPr>
        <p:spPr>
          <a:xfrm>
            <a:off x="9089136" y="3017520"/>
            <a:ext cx="2103120" cy="685800"/>
          </a:xfrm>
          <a:prstGeom prst="rect">
            <a:avLst/>
          </a:prstGeom>
          <a:noFill/>
          <a:ln/>
        </p:spPr>
        <p:txBody>
          <a:bodyPr wrap="square" lIns="0" tIns="0" rIns="0" bIns="0" rtlCol="0" anchor="t"/>
          <a:lstStyle/>
          <a:p>
            <a:pPr indent="0" marL="0">
              <a:buNone/>
            </a:pPr>
            <a:r>
              <a:rPr lang="en-US" sz="1200" dirty="0">
                <a:solidFill>
                  <a:schemeClr val="tx1"/>
                </a:solidFill>
              </a:rPr>
              <a:t>Audit log dan buku mutasi hanya bisa ditambah</a:t>
            </a:r>
            <a:endParaRPr lang="en-US" sz="1200" dirty="0"/>
          </a:p>
        </p:txBody>
      </p:sp>
      <p:sp>
        <p:nvSpPr>
          <p:cNvPr id="24" name="Kartu Uang akurat"/>
          <p:cNvSpPr/>
          <p:nvPr/>
        </p:nvSpPr>
        <p:spPr>
          <a:xfrm>
            <a:off x="822960" y="3977640"/>
            <a:ext cx="2514600" cy="2011680"/>
          </a:xfrm>
          <a:prstGeom prst="roundRect">
            <a:avLst>
              <a:gd name="adj" fmla="val 6364"/>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25" name="Lingkaran Uang akurat"/>
          <p:cNvSpPr/>
          <p:nvPr/>
        </p:nvSpPr>
        <p:spPr>
          <a:xfrm>
            <a:off x="1051560" y="4206240"/>
            <a:ext cx="548640" cy="548640"/>
          </a:xfrm>
          <a:prstGeom prst="ellipse">
            <a:avLst/>
          </a:prstGeom>
          <a:solidFill>
            <a:srgbClr val="1E5FC7"/>
          </a:solidFill>
          <a:ln/>
        </p:spPr>
      </p:sp>
      <p:pic>
        <p:nvPicPr>
          <p:cNvPr id="26" name="Ikon Uang akurat" descr="Uang akurat">    </p:cNvPr>
          <p:cNvPicPr>
            <a:picLocks noChangeAspect="1"/>
          </p:cNvPicPr>
          <p:nvPr/>
        </p:nvPicPr>
        <p:blipFill>
          <a:blip r:embed="rId5"/>
          <a:stretch>
            <a:fillRect/>
          </a:stretch>
        </p:blipFill>
        <p:spPr>
          <a:xfrm>
            <a:off x="1188720" y="4343400"/>
            <a:ext cx="274320" cy="274320"/>
          </a:xfrm>
          <a:prstGeom prst="rect">
            <a:avLst/>
          </a:prstGeom>
        </p:spPr>
      </p:pic>
      <p:sp>
        <p:nvSpPr>
          <p:cNvPr id="27" name="Judul Uang akurat"/>
          <p:cNvSpPr txBox="1"/>
          <p:nvPr/>
        </p:nvSpPr>
        <p:spPr>
          <a:xfrm>
            <a:off x="1051560" y="4873752"/>
            <a:ext cx="210312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Uang akurat</a:t>
            </a:r>
            <a:endParaRPr lang="en-US" sz="1600" dirty="0"/>
          </a:p>
        </p:txBody>
      </p:sp>
      <p:sp>
        <p:nvSpPr>
          <p:cNvPr id="28" name="Uraian Uang akurat"/>
          <p:cNvSpPr txBox="1"/>
          <p:nvPr/>
        </p:nvSpPr>
        <p:spPr>
          <a:xfrm>
            <a:off x="1051560" y="5212080"/>
            <a:ext cx="2103120" cy="685800"/>
          </a:xfrm>
          <a:prstGeom prst="rect">
            <a:avLst/>
          </a:prstGeom>
          <a:noFill/>
          <a:ln/>
        </p:spPr>
        <p:txBody>
          <a:bodyPr wrap="square" lIns="0" tIns="0" rIns="0" bIns="0" rtlCol="0" anchor="t"/>
          <a:lstStyle/>
          <a:p>
            <a:pPr indent="0" marL="0">
              <a:buNone/>
            </a:pPr>
            <a:r>
              <a:rPr lang="en-US" sz="1200" dirty="0">
                <a:solidFill>
                  <a:schemeClr val="tx1"/>
                </a:solidFill>
              </a:rPr>
              <a:t>Tipe Decimal dan transaksi atomik</a:t>
            </a:r>
            <a:endParaRPr lang="en-US" sz="1200" dirty="0"/>
          </a:p>
        </p:txBody>
      </p:sp>
      <p:sp>
        <p:nvSpPr>
          <p:cNvPr id="29" name="Kartu Pembatas laju"/>
          <p:cNvSpPr/>
          <p:nvPr/>
        </p:nvSpPr>
        <p:spPr>
          <a:xfrm>
            <a:off x="3502152" y="3977640"/>
            <a:ext cx="2514600" cy="2011680"/>
          </a:xfrm>
          <a:prstGeom prst="roundRect">
            <a:avLst>
              <a:gd name="adj" fmla="val 6364"/>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30" name="Lingkaran Pembatas laju"/>
          <p:cNvSpPr/>
          <p:nvPr/>
        </p:nvSpPr>
        <p:spPr>
          <a:xfrm>
            <a:off x="3730752" y="4206240"/>
            <a:ext cx="548640" cy="548640"/>
          </a:xfrm>
          <a:prstGeom prst="ellipse">
            <a:avLst/>
          </a:prstGeom>
          <a:solidFill>
            <a:srgbClr val="0B1437"/>
          </a:solidFill>
          <a:ln/>
        </p:spPr>
      </p:sp>
      <p:pic>
        <p:nvPicPr>
          <p:cNvPr id="31" name="Ikon Pembatas laju" descr="Pembatas laju">    </p:cNvPr>
          <p:cNvPicPr>
            <a:picLocks noChangeAspect="1"/>
          </p:cNvPicPr>
          <p:nvPr/>
        </p:nvPicPr>
        <p:blipFill>
          <a:blip r:embed="rId6"/>
          <a:stretch>
            <a:fillRect/>
          </a:stretch>
        </p:blipFill>
        <p:spPr>
          <a:xfrm>
            <a:off x="3867912" y="4343400"/>
            <a:ext cx="274320" cy="274320"/>
          </a:xfrm>
          <a:prstGeom prst="rect">
            <a:avLst/>
          </a:prstGeom>
        </p:spPr>
      </p:pic>
      <p:sp>
        <p:nvSpPr>
          <p:cNvPr id="32" name="Judul Pembatas laju"/>
          <p:cNvSpPr txBox="1"/>
          <p:nvPr/>
        </p:nvSpPr>
        <p:spPr>
          <a:xfrm>
            <a:off x="3730752" y="4873752"/>
            <a:ext cx="210312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Pembatas laju</a:t>
            </a:r>
            <a:endParaRPr lang="en-US" sz="1600" dirty="0"/>
          </a:p>
        </p:txBody>
      </p:sp>
      <p:sp>
        <p:nvSpPr>
          <p:cNvPr id="33" name="Uraian Pembatas laju"/>
          <p:cNvSpPr txBox="1"/>
          <p:nvPr/>
        </p:nvSpPr>
        <p:spPr>
          <a:xfrm>
            <a:off x="3730752" y="5212080"/>
            <a:ext cx="2103120" cy="685800"/>
          </a:xfrm>
          <a:prstGeom prst="rect">
            <a:avLst/>
          </a:prstGeom>
          <a:noFill/>
          <a:ln/>
        </p:spPr>
        <p:txBody>
          <a:bodyPr wrap="square" lIns="0" tIns="0" rIns="0" bIns="0" rtlCol="0" anchor="t"/>
          <a:lstStyle/>
          <a:p>
            <a:pPr indent="0" marL="0">
              <a:buNone/>
            </a:pPr>
            <a:r>
              <a:rPr lang="en-US" sz="1200" dirty="0">
                <a:solidFill>
                  <a:schemeClr val="tx1"/>
                </a:solidFill>
              </a:rPr>
              <a:t>Endpoint publik dibatasi per IP, header keamanan</a:t>
            </a:r>
            <a:endParaRPr lang="en-US" sz="1200" dirty="0"/>
          </a:p>
        </p:txBody>
      </p:sp>
      <p:sp>
        <p:nvSpPr>
          <p:cNvPr id="34" name="Kartu Email aman"/>
          <p:cNvSpPr/>
          <p:nvPr/>
        </p:nvSpPr>
        <p:spPr>
          <a:xfrm>
            <a:off x="6181344" y="3977640"/>
            <a:ext cx="2514600" cy="2011680"/>
          </a:xfrm>
          <a:prstGeom prst="roundRect">
            <a:avLst>
              <a:gd name="adj" fmla="val 6364"/>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35" name="Lingkaran Email aman"/>
          <p:cNvSpPr/>
          <p:nvPr/>
        </p:nvSpPr>
        <p:spPr>
          <a:xfrm>
            <a:off x="6409944" y="4206240"/>
            <a:ext cx="548640" cy="548640"/>
          </a:xfrm>
          <a:prstGeom prst="ellipse">
            <a:avLst/>
          </a:prstGeom>
          <a:solidFill>
            <a:srgbClr val="1E5FC7"/>
          </a:solidFill>
          <a:ln/>
        </p:spPr>
      </p:sp>
      <p:pic>
        <p:nvPicPr>
          <p:cNvPr id="36" name="Ikon Email aman" descr="Email aman">    </p:cNvPr>
          <p:cNvPicPr>
            <a:picLocks noChangeAspect="1"/>
          </p:cNvPicPr>
          <p:nvPr/>
        </p:nvPicPr>
        <p:blipFill>
          <a:blip r:embed="rId7"/>
          <a:stretch>
            <a:fillRect/>
          </a:stretch>
        </p:blipFill>
        <p:spPr>
          <a:xfrm>
            <a:off x="6547104" y="4343400"/>
            <a:ext cx="274320" cy="274320"/>
          </a:xfrm>
          <a:prstGeom prst="rect">
            <a:avLst/>
          </a:prstGeom>
        </p:spPr>
      </p:pic>
      <p:sp>
        <p:nvSpPr>
          <p:cNvPr id="37" name="Judul Email aman"/>
          <p:cNvSpPr txBox="1"/>
          <p:nvPr/>
        </p:nvSpPr>
        <p:spPr>
          <a:xfrm>
            <a:off x="6409944" y="4873752"/>
            <a:ext cx="210312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Email aman</a:t>
            </a:r>
            <a:endParaRPr lang="en-US" sz="1600" dirty="0"/>
          </a:p>
        </p:txBody>
      </p:sp>
      <p:sp>
        <p:nvSpPr>
          <p:cNvPr id="38" name="Uraian Email aman"/>
          <p:cNvSpPr txBox="1"/>
          <p:nvPr/>
        </p:nvSpPr>
        <p:spPr>
          <a:xfrm>
            <a:off x="6409944" y="5212080"/>
            <a:ext cx="2103120" cy="685800"/>
          </a:xfrm>
          <a:prstGeom prst="rect">
            <a:avLst/>
          </a:prstGeom>
          <a:noFill/>
          <a:ln/>
        </p:spPr>
        <p:txBody>
          <a:bodyPr wrap="square" lIns="0" tIns="0" rIns="0" bIns="0" rtlCol="0" anchor="t"/>
          <a:lstStyle/>
          <a:p>
            <a:pPr indent="0" marL="0">
              <a:buNone/>
            </a:pPr>
            <a:r>
              <a:rPr lang="en-US" sz="1200" dirty="0">
                <a:solidFill>
                  <a:schemeClr val="tx1"/>
                </a:solidFill>
              </a:rPr>
              <a:t>Nama dan tautan di-escape dari tag HTML</a:t>
            </a:r>
            <a:endParaRPr lang="en-US" sz="1200" dirty="0"/>
          </a:p>
        </p:txBody>
      </p:sp>
      <p:sp>
        <p:nvSpPr>
          <p:cNvPr id="39" name="Kartu Anti tebak akun"/>
          <p:cNvSpPr/>
          <p:nvPr/>
        </p:nvSpPr>
        <p:spPr>
          <a:xfrm>
            <a:off x="8860536" y="3977640"/>
            <a:ext cx="2514600" cy="2011680"/>
          </a:xfrm>
          <a:prstGeom prst="roundRect">
            <a:avLst>
              <a:gd name="adj" fmla="val 6364"/>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40" name="Lingkaran Anti tebak akun"/>
          <p:cNvSpPr/>
          <p:nvPr/>
        </p:nvSpPr>
        <p:spPr>
          <a:xfrm>
            <a:off x="9089136" y="4206240"/>
            <a:ext cx="548640" cy="548640"/>
          </a:xfrm>
          <a:prstGeom prst="ellipse">
            <a:avLst/>
          </a:prstGeom>
          <a:solidFill>
            <a:srgbClr val="0B1437"/>
          </a:solidFill>
          <a:ln/>
        </p:spPr>
      </p:sp>
      <p:pic>
        <p:nvPicPr>
          <p:cNvPr id="41" name="Ikon Anti tebak akun" descr="Anti tebak akun">    </p:cNvPr>
          <p:cNvPicPr>
            <a:picLocks noChangeAspect="1"/>
          </p:cNvPicPr>
          <p:nvPr/>
        </p:nvPicPr>
        <p:blipFill>
          <a:blip r:embed="rId8"/>
          <a:stretch>
            <a:fillRect/>
          </a:stretch>
        </p:blipFill>
        <p:spPr>
          <a:xfrm>
            <a:off x="9226296" y="4343400"/>
            <a:ext cx="274320" cy="274320"/>
          </a:xfrm>
          <a:prstGeom prst="rect">
            <a:avLst/>
          </a:prstGeom>
        </p:spPr>
      </p:pic>
      <p:sp>
        <p:nvSpPr>
          <p:cNvPr id="42" name="Judul Anti tebak akun"/>
          <p:cNvSpPr txBox="1"/>
          <p:nvPr/>
        </p:nvSpPr>
        <p:spPr>
          <a:xfrm>
            <a:off x="9089136" y="4873752"/>
            <a:ext cx="210312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Anti tebak akun</a:t>
            </a:r>
            <a:endParaRPr lang="en-US" sz="1600" dirty="0"/>
          </a:p>
        </p:txBody>
      </p:sp>
      <p:sp>
        <p:nvSpPr>
          <p:cNvPr id="43" name="Uraian Anti tebak akun"/>
          <p:cNvSpPr txBox="1"/>
          <p:nvPr/>
        </p:nvSpPr>
        <p:spPr>
          <a:xfrm>
            <a:off x="9089136" y="5212080"/>
            <a:ext cx="2103120" cy="685800"/>
          </a:xfrm>
          <a:prstGeom prst="rect">
            <a:avLst/>
          </a:prstGeom>
          <a:noFill/>
          <a:ln/>
        </p:spPr>
        <p:txBody>
          <a:bodyPr wrap="square" lIns="0" tIns="0" rIns="0" bIns="0" rtlCol="0" anchor="t"/>
          <a:lstStyle/>
          <a:p>
            <a:pPr indent="0" marL="0">
              <a:buNone/>
            </a:pPr>
            <a:r>
              <a:rPr lang="en-US" sz="1200" dirty="0">
                <a:solidFill>
                  <a:schemeClr val="tx1"/>
                </a:solidFill>
              </a:rPr>
              <a:t>Daftar dan lupa password menjawab sama</a:t>
            </a:r>
            <a:endParaRPr lang="en-US" sz="12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TEKNOLOGI</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Aplikasi mobile Android dan iOS</a:t>
            </a:r>
            <a:endParaRPr lang="en-US" sz="3200" dirty="0"/>
          </a:p>
        </p:txBody>
      </p:sp>
      <p:sp>
        <p:nvSpPr>
          <p:cNvPr id="4" name="Panel Aplikasi mobile Android dan iOS"/>
          <p:cNvSpPr/>
          <p:nvPr/>
        </p:nvSpPr>
        <p:spPr>
          <a:xfrm>
            <a:off x="822960" y="1783080"/>
            <a:ext cx="5486400" cy="4343400"/>
          </a:xfrm>
          <a:prstGeom prst="roundRect">
            <a:avLst>
              <a:gd name="adj" fmla="val 4211"/>
            </a:avLst>
          </a:prstGeom>
          <a:solidFill>
            <a:schemeClr val="bg2"/>
          </a:solidFill>
          <a:ln/>
        </p:spPr>
      </p:sp>
      <p:sp>
        <p:nvSpPr>
          <p:cNvPr id="5" name="Bingkai HP halaman tentang"/>
          <p:cNvSpPr/>
          <p:nvPr/>
        </p:nvSpPr>
        <p:spPr>
          <a:xfrm>
            <a:off x="1051560" y="2011680"/>
            <a:ext cx="1864673" cy="3886200"/>
          </a:xfrm>
          <a:prstGeom prst="roundRect">
            <a:avLst>
              <a:gd name="adj" fmla="val 10788"/>
            </a:avLst>
          </a:prstGeom>
          <a:solidFill>
            <a:srgbClr val="0B1437"/>
          </a:solidFill>
          <a:ln w="12700">
            <a:solidFill>
              <a:srgbClr val="334155"/>
            </a:solidFill>
            <a:prstDash val="solid"/>
          </a:ln>
          <a:effectLst>
            <a:outerShdw sx="100000" sy="100000" kx="0" ky="0" algn="bl" rotWithShape="0" blurRad="152400" dist="50800" dir="5400000">
              <a:srgbClr val="000000">
                <a:alpha val="30000"/>
              </a:srgbClr>
            </a:outerShdw>
          </a:effectLst>
        </p:spPr>
      </p:sp>
      <p:pic>
        <p:nvPicPr>
          <p:cNvPr id="6" name="Layar HP halaman tentang" descr="Tampilan HP: halaman tentang">    </p:cNvPr>
          <p:cNvPicPr>
            <a:picLocks noChangeAspect="1"/>
          </p:cNvPicPr>
          <p:nvPr/>
        </p:nvPicPr>
        <p:blipFill>
          <a:blip r:embed="rId1"/>
          <a:stretch>
            <a:fillRect/>
          </a:stretch>
        </p:blipFill>
        <p:spPr>
          <a:xfrm>
            <a:off x="1115568" y="2075688"/>
            <a:ext cx="1736657" cy="3758184"/>
          </a:xfrm>
          <a:prstGeom prst="rect">
            <a:avLst/>
          </a:prstGeom>
        </p:spPr>
      </p:pic>
      <p:sp>
        <p:nvSpPr>
          <p:cNvPr id="7" name="Bingkai HP simulasi"/>
          <p:cNvSpPr/>
          <p:nvPr/>
        </p:nvSpPr>
        <p:spPr>
          <a:xfrm>
            <a:off x="3190553" y="2011680"/>
            <a:ext cx="1864673" cy="3886200"/>
          </a:xfrm>
          <a:prstGeom prst="roundRect">
            <a:avLst>
              <a:gd name="adj" fmla="val 10788"/>
            </a:avLst>
          </a:prstGeom>
          <a:solidFill>
            <a:srgbClr val="0B1437"/>
          </a:solidFill>
          <a:ln w="12700">
            <a:solidFill>
              <a:srgbClr val="334155"/>
            </a:solidFill>
            <a:prstDash val="solid"/>
          </a:ln>
          <a:effectLst>
            <a:outerShdw sx="100000" sy="100000" kx="0" ky="0" algn="bl" rotWithShape="0" blurRad="152400" dist="50800" dir="5400000">
              <a:srgbClr val="000000">
                <a:alpha val="30000"/>
              </a:srgbClr>
            </a:outerShdw>
          </a:effectLst>
        </p:spPr>
      </p:sp>
      <p:pic>
        <p:nvPicPr>
          <p:cNvPr id="8" name="Layar HP simulasi" descr="Tampilan HP: simulasi">    </p:cNvPr>
          <p:cNvPicPr>
            <a:picLocks noChangeAspect="1"/>
          </p:cNvPicPr>
          <p:nvPr/>
        </p:nvPicPr>
        <p:blipFill>
          <a:blip r:embed="rId2"/>
          <a:stretch>
            <a:fillRect/>
          </a:stretch>
        </p:blipFill>
        <p:spPr>
          <a:xfrm>
            <a:off x="3254561" y="2075688"/>
            <a:ext cx="1736657" cy="3758184"/>
          </a:xfrm>
          <a:prstGeom prst="rect">
            <a:avLst/>
          </a:prstGeom>
        </p:spPr>
      </p:pic>
      <p:sp>
        <p:nvSpPr>
          <p:cNvPr id="9" name="Nomor 1"/>
          <p:cNvSpPr txBox="1"/>
          <p:nvPr/>
        </p:nvSpPr>
        <p:spPr>
          <a:xfrm>
            <a:off x="6858000" y="18288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01</a:t>
            </a:r>
            <a:endParaRPr lang="en-US" sz="1800" dirty="0"/>
          </a:p>
        </p:txBody>
      </p:sp>
      <p:sp>
        <p:nvSpPr>
          <p:cNvPr id="10" name="Poin 1"/>
          <p:cNvSpPr txBox="1"/>
          <p:nvPr/>
        </p:nvSpPr>
        <p:spPr>
          <a:xfrm>
            <a:off x="7452360" y="18288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Satu kode</a:t>
            </a:r>
            <a:endParaRPr lang="en-US" sz="1500" dirty="0"/>
          </a:p>
          <a:p>
            <a:pPr indent="0" marL="0">
              <a:buNone/>
            </a:pPr>
            <a:r>
              <a:rPr lang="en-US" sz="1500" dirty="0">
                <a:solidFill>
                  <a:schemeClr val="tx1"/>
                </a:solidFill>
              </a:rPr>
              <a:t>web yang sama dibungkus Capacitor 8</a:t>
            </a:r>
            <a:endParaRPr lang="en-US" sz="1500" dirty="0"/>
          </a:p>
        </p:txBody>
      </p:sp>
      <p:sp>
        <p:nvSpPr>
          <p:cNvPr id="11" name="Nomor 2"/>
          <p:cNvSpPr txBox="1"/>
          <p:nvPr/>
        </p:nvSpPr>
        <p:spPr>
          <a:xfrm>
            <a:off x="6858000" y="27432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02</a:t>
            </a:r>
            <a:endParaRPr lang="en-US" sz="1800" dirty="0"/>
          </a:p>
        </p:txBody>
      </p:sp>
      <p:sp>
        <p:nvSpPr>
          <p:cNvPr id="12" name="Poin 2"/>
          <p:cNvSpPr txBox="1"/>
          <p:nvPr/>
        </p:nvSpPr>
        <p:spPr>
          <a:xfrm>
            <a:off x="7452360" y="27432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Mode kabel USB</a:t>
            </a:r>
            <a:endParaRPr lang="en-US" sz="1500" dirty="0"/>
          </a:p>
          <a:p>
            <a:pPr indent="0" marL="0">
              <a:buNone/>
            </a:pPr>
            <a:r>
              <a:rPr lang="en-US" sz="1500" dirty="0">
                <a:solidFill>
                  <a:schemeClr val="tx1"/>
                </a:solidFill>
              </a:rPr>
              <a:t>uji di perangkat; mode WiFi tersedia</a:t>
            </a:r>
            <a:endParaRPr lang="en-US" sz="1500" dirty="0"/>
          </a:p>
        </p:txBody>
      </p:sp>
      <p:sp>
        <p:nvSpPr>
          <p:cNvPr id="13" name="Nomor 3"/>
          <p:cNvSpPr txBox="1"/>
          <p:nvPr/>
        </p:nvSpPr>
        <p:spPr>
          <a:xfrm>
            <a:off x="6858000" y="36576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03</a:t>
            </a:r>
            <a:endParaRPr lang="en-US" sz="1800" dirty="0"/>
          </a:p>
        </p:txBody>
      </p:sp>
      <p:sp>
        <p:nvSpPr>
          <p:cNvPr id="14" name="Poin 3"/>
          <p:cNvSpPr txBox="1"/>
          <p:nvPr/>
        </p:nvSpPr>
        <p:spPr>
          <a:xfrm>
            <a:off x="7452360" y="36576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Izin minimal</a:t>
            </a:r>
            <a:endParaRPr lang="en-US" sz="1500" dirty="0"/>
          </a:p>
          <a:p>
            <a:pPr indent="0" marL="0">
              <a:buNone/>
            </a:pPr>
            <a:r>
              <a:rPr lang="en-US" sz="1500" dirty="0">
                <a:solidFill>
                  <a:schemeClr val="tx1"/>
                </a:solidFill>
              </a:rPr>
              <a:t>hanya internet dan kamera, dijaga tes</a:t>
            </a:r>
            <a:endParaRPr lang="en-US" sz="1500" dirty="0"/>
          </a:p>
        </p:txBody>
      </p:sp>
      <p:sp>
        <p:nvSpPr>
          <p:cNvPr id="15" name="Nomor 4"/>
          <p:cNvSpPr txBox="1"/>
          <p:nvPr/>
        </p:nvSpPr>
        <p:spPr>
          <a:xfrm>
            <a:off x="6858000" y="45720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04</a:t>
            </a:r>
            <a:endParaRPr lang="en-US" sz="1800" dirty="0"/>
          </a:p>
        </p:txBody>
      </p:sp>
      <p:sp>
        <p:nvSpPr>
          <p:cNvPr id="16" name="Poin 4"/>
          <p:cNvSpPr txBox="1"/>
          <p:nvPr/>
        </p:nvSpPr>
        <p:spPr>
          <a:xfrm>
            <a:off x="7452360" y="45720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Layar sambutan</a:t>
            </a:r>
            <a:endParaRPr lang="en-US" sz="1500" dirty="0"/>
          </a:p>
          <a:p>
            <a:pPr indent="0" marL="0">
              <a:buNone/>
            </a:pPr>
            <a:r>
              <a:rPr lang="en-US" sz="1500" dirty="0">
                <a:solidFill>
                  <a:schemeClr val="tx1"/>
                </a:solidFill>
              </a:rPr>
              <a:t>animasi Welcome to BuyaLater</a:t>
            </a:r>
            <a:endParaRPr lang="en-US" sz="1500" dirty="0"/>
          </a:p>
        </p:txBody>
      </p:sp>
      <p:sp>
        <p:nvSpPr>
          <p:cNvPr id="17" name="Nomor 5"/>
          <p:cNvSpPr txBox="1"/>
          <p:nvPr/>
        </p:nvSpPr>
        <p:spPr>
          <a:xfrm>
            <a:off x="6858000" y="5486400"/>
            <a:ext cx="50292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05</a:t>
            </a:r>
            <a:endParaRPr lang="en-US" sz="1800" dirty="0"/>
          </a:p>
        </p:txBody>
      </p:sp>
      <p:sp>
        <p:nvSpPr>
          <p:cNvPr id="18" name="Poin 5"/>
          <p:cNvSpPr txBox="1"/>
          <p:nvPr/>
        </p:nvSpPr>
        <p:spPr>
          <a:xfrm>
            <a:off x="7452360" y="5486400"/>
            <a:ext cx="3886200" cy="804672"/>
          </a:xfrm>
          <a:prstGeom prst="rect">
            <a:avLst/>
          </a:prstGeom>
          <a:noFill/>
          <a:ln/>
        </p:spPr>
        <p:txBody>
          <a:bodyPr wrap="square" lIns="0" tIns="0" rIns="0" bIns="0" rtlCol="0" anchor="t"/>
          <a:lstStyle/>
          <a:p>
            <a:pPr indent="0" marL="0">
              <a:buNone/>
            </a:pPr>
            <a:r>
              <a:rPr lang="en-US" sz="1500" b="1" dirty="0">
                <a:solidFill>
                  <a:schemeClr val="tx2"/>
                </a:solidFill>
              </a:rPr>
              <a:t>Pembaruan cepat</a:t>
            </a:r>
            <a:endParaRPr lang="en-US" sz="1500" dirty="0"/>
          </a:p>
          <a:p>
            <a:pPr indent="0" marL="0">
              <a:buNone/>
            </a:pPr>
            <a:r>
              <a:rPr lang="en-US" sz="1500" dirty="0">
                <a:solidFill>
                  <a:schemeClr val="tx1"/>
                </a:solidFill>
              </a:rPr>
              <a:t>perubahan web langsung terlihat</a:t>
            </a:r>
            <a:endParaRPr lang="en-US" sz="15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Label bagian"/>
          <p:cNvSpPr txBox="1"/>
          <p:nvPr/>
        </p:nvSpPr>
        <p:spPr>
          <a:xfrm>
            <a:off x="822960" y="457200"/>
            <a:ext cx="7315200" cy="274320"/>
          </a:xfrm>
          <a:prstGeom prst="rect">
            <a:avLst/>
          </a:prstGeom>
          <a:noFill/>
          <a:ln/>
        </p:spPr>
        <p:txBody>
          <a:bodyPr wrap="square" lIns="0" tIns="0" rIns="0" bIns="0" rtlCol="0" anchor="ctr"/>
          <a:lstStyle/>
          <a:p>
            <a:pPr indent="0" marL="0">
              <a:buNone/>
            </a:pPr>
            <a:r>
              <a:rPr lang="en-US" sz="1200" b="1" spc="500" kern="0" dirty="0">
                <a:solidFill>
                  <a:schemeClr val="accent1"/>
                </a:solidFill>
              </a:rPr>
              <a:t>TEKNOLOGI</a:t>
            </a:r>
            <a:endParaRPr lang="en-US" sz="1200" dirty="0"/>
          </a:p>
        </p:txBody>
      </p:sp>
      <p:sp>
        <p:nvSpPr>
          <p:cNvPr id="3" name="Text 0"/>
          <p:cNvSpPr/>
          <p:nvPr>
            <p:ph idx="100" type="title" hasCustomPrompt="1"/>
          </p:nvPr>
        </p:nvSpPr>
        <p:spPr>
          <a:xfrm>
            <a:off x="822960" y="777240"/>
            <a:ext cx="10515600" cy="777240"/>
          </a:xfrm>
          <a:prstGeom prst="rect">
            <a:avLst/>
          </a:prstGeom>
          <a:noFill/>
          <a:ln/>
        </p:spPr>
        <p:txBody>
          <a:bodyPr wrap="square" lIns="0" tIns="0" rIns="0" bIns="0" rtlCol="0" anchor="ctr"/>
          <a:lstStyle/>
          <a:p>
            <a:pPr algn="l" indent="0" marL="0">
              <a:buNone/>
            </a:pPr>
            <a:r>
              <a:rPr lang="en-US" sz="3200" b="1" dirty="0">
                <a:solidFill>
                  <a:schemeClr val="tx2"/>
                </a:solidFill>
              </a:rPr>
              <a:t>Teknologi di balik BuyaLater</a:t>
            </a:r>
            <a:endParaRPr lang="en-US" sz="3200" dirty="0"/>
          </a:p>
        </p:txBody>
      </p:sp>
      <p:sp>
        <p:nvSpPr>
          <p:cNvPr id="4" name="Kartu Lapisan Antarmuka"/>
          <p:cNvSpPr/>
          <p:nvPr/>
        </p:nvSpPr>
        <p:spPr>
          <a:xfrm>
            <a:off x="822960" y="1783080"/>
            <a:ext cx="10515600" cy="1280160"/>
          </a:xfrm>
          <a:prstGeom prst="roundRect">
            <a:avLst>
              <a:gd name="adj" fmla="val 10000"/>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5" name="Lingkaran Antarmuka"/>
          <p:cNvSpPr/>
          <p:nvPr/>
        </p:nvSpPr>
        <p:spPr>
          <a:xfrm>
            <a:off x="1097280" y="2057400"/>
            <a:ext cx="731520" cy="731520"/>
          </a:xfrm>
          <a:prstGeom prst="ellipse">
            <a:avLst/>
          </a:prstGeom>
          <a:solidFill>
            <a:srgbClr val="1E5FC7"/>
          </a:solidFill>
          <a:ln/>
        </p:spPr>
      </p:sp>
      <p:pic>
        <p:nvPicPr>
          <p:cNvPr id="6" name="Ikon Antarmuka" descr="Antarmuka">    </p:cNvPr>
          <p:cNvPicPr>
            <a:picLocks noChangeAspect="1"/>
          </p:cNvPicPr>
          <p:nvPr/>
        </p:nvPicPr>
        <p:blipFill>
          <a:blip r:embed="rId1"/>
          <a:stretch>
            <a:fillRect/>
          </a:stretch>
        </p:blipFill>
        <p:spPr>
          <a:xfrm>
            <a:off x="1280160" y="2240280"/>
            <a:ext cx="365760" cy="365760"/>
          </a:xfrm>
          <a:prstGeom prst="rect">
            <a:avLst/>
          </a:prstGeom>
        </p:spPr>
      </p:pic>
      <p:sp>
        <p:nvSpPr>
          <p:cNvPr id="7" name="Lapisan Antarmuka"/>
          <p:cNvSpPr txBox="1"/>
          <p:nvPr/>
        </p:nvSpPr>
        <p:spPr>
          <a:xfrm>
            <a:off x="2011680" y="2057400"/>
            <a:ext cx="1828800" cy="73152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Antarmuka</a:t>
            </a:r>
            <a:endParaRPr lang="en-US" sz="2200" dirty="0"/>
          </a:p>
        </p:txBody>
      </p:sp>
      <p:sp>
        <p:nvSpPr>
          <p:cNvPr id="8" name="Chip Next.js 16"/>
          <p:cNvSpPr/>
          <p:nvPr/>
        </p:nvSpPr>
        <p:spPr>
          <a:xfrm>
            <a:off x="4023360" y="2148840"/>
            <a:ext cx="1691640" cy="548640"/>
          </a:xfrm>
          <a:prstGeom prst="roundRect">
            <a:avLst>
              <a:gd name="adj" fmla="val 50000"/>
            </a:avLst>
          </a:prstGeom>
          <a:solidFill>
            <a:schemeClr val="bg2"/>
          </a:solidFill>
          <a:ln w="12700">
            <a:solidFill>
              <a:srgbClr val="DDE3EE"/>
            </a:solidFill>
            <a:prstDash val="solid"/>
          </a:ln>
        </p:spPr>
      </p:sp>
      <p:sp>
        <p:nvSpPr>
          <p:cNvPr id="9" name="Teks chip Next.js 16"/>
          <p:cNvSpPr txBox="1"/>
          <p:nvPr/>
        </p:nvSpPr>
        <p:spPr>
          <a:xfrm>
            <a:off x="4023360" y="2148840"/>
            <a:ext cx="1691640" cy="548640"/>
          </a:xfrm>
          <a:prstGeom prst="rect">
            <a:avLst/>
          </a:prstGeom>
          <a:noFill/>
          <a:ln/>
        </p:spPr>
        <p:txBody>
          <a:bodyPr wrap="square" lIns="0" tIns="0" rIns="0" bIns="0" rtlCol="0" anchor="ctr"/>
          <a:lstStyle/>
          <a:p>
            <a:pPr algn="ctr" indent="0" marL="0">
              <a:buNone/>
            </a:pPr>
            <a:r>
              <a:rPr lang="en-US" sz="1300" b="1" dirty="0">
                <a:solidFill>
                  <a:schemeClr val="tx2"/>
                </a:solidFill>
              </a:rPr>
              <a:t>Next.js 16</a:t>
            </a:r>
            <a:endParaRPr lang="en-US" sz="1300" dirty="0"/>
          </a:p>
        </p:txBody>
      </p:sp>
      <p:sp>
        <p:nvSpPr>
          <p:cNvPr id="10" name="Chip React"/>
          <p:cNvSpPr/>
          <p:nvPr/>
        </p:nvSpPr>
        <p:spPr>
          <a:xfrm>
            <a:off x="5852160" y="2148840"/>
            <a:ext cx="1691640" cy="548640"/>
          </a:xfrm>
          <a:prstGeom prst="roundRect">
            <a:avLst>
              <a:gd name="adj" fmla="val 50000"/>
            </a:avLst>
          </a:prstGeom>
          <a:solidFill>
            <a:schemeClr val="bg2"/>
          </a:solidFill>
          <a:ln w="12700">
            <a:solidFill>
              <a:srgbClr val="DDE3EE"/>
            </a:solidFill>
            <a:prstDash val="solid"/>
          </a:ln>
        </p:spPr>
      </p:sp>
      <p:sp>
        <p:nvSpPr>
          <p:cNvPr id="11" name="Teks chip React"/>
          <p:cNvSpPr txBox="1"/>
          <p:nvPr/>
        </p:nvSpPr>
        <p:spPr>
          <a:xfrm>
            <a:off x="5852160" y="2148840"/>
            <a:ext cx="1691640" cy="548640"/>
          </a:xfrm>
          <a:prstGeom prst="rect">
            <a:avLst/>
          </a:prstGeom>
          <a:noFill/>
          <a:ln/>
        </p:spPr>
        <p:txBody>
          <a:bodyPr wrap="square" lIns="0" tIns="0" rIns="0" bIns="0" rtlCol="0" anchor="ctr"/>
          <a:lstStyle/>
          <a:p>
            <a:pPr algn="ctr" indent="0" marL="0">
              <a:buNone/>
            </a:pPr>
            <a:r>
              <a:rPr lang="en-US" sz="1300" b="1" dirty="0">
                <a:solidFill>
                  <a:schemeClr val="tx2"/>
                </a:solidFill>
              </a:rPr>
              <a:t>React</a:t>
            </a:r>
            <a:endParaRPr lang="en-US" sz="1300" dirty="0"/>
          </a:p>
        </p:txBody>
      </p:sp>
      <p:sp>
        <p:nvSpPr>
          <p:cNvPr id="12" name="Chip Tailwind CSS"/>
          <p:cNvSpPr/>
          <p:nvPr/>
        </p:nvSpPr>
        <p:spPr>
          <a:xfrm>
            <a:off x="7680960" y="2148840"/>
            <a:ext cx="1691640" cy="548640"/>
          </a:xfrm>
          <a:prstGeom prst="roundRect">
            <a:avLst>
              <a:gd name="adj" fmla="val 50000"/>
            </a:avLst>
          </a:prstGeom>
          <a:solidFill>
            <a:schemeClr val="bg2"/>
          </a:solidFill>
          <a:ln w="12700">
            <a:solidFill>
              <a:srgbClr val="DDE3EE"/>
            </a:solidFill>
            <a:prstDash val="solid"/>
          </a:ln>
        </p:spPr>
      </p:sp>
      <p:sp>
        <p:nvSpPr>
          <p:cNvPr id="13" name="Teks chip Tailwind CSS"/>
          <p:cNvSpPr txBox="1"/>
          <p:nvPr/>
        </p:nvSpPr>
        <p:spPr>
          <a:xfrm>
            <a:off x="7680960" y="2148840"/>
            <a:ext cx="1691640" cy="548640"/>
          </a:xfrm>
          <a:prstGeom prst="rect">
            <a:avLst/>
          </a:prstGeom>
          <a:noFill/>
          <a:ln/>
        </p:spPr>
        <p:txBody>
          <a:bodyPr wrap="square" lIns="0" tIns="0" rIns="0" bIns="0" rtlCol="0" anchor="ctr"/>
          <a:lstStyle/>
          <a:p>
            <a:pPr algn="ctr" indent="0" marL="0">
              <a:buNone/>
            </a:pPr>
            <a:r>
              <a:rPr lang="en-US" sz="1300" b="1" dirty="0">
                <a:solidFill>
                  <a:schemeClr val="tx2"/>
                </a:solidFill>
              </a:rPr>
              <a:t>Tailwind CSS</a:t>
            </a:r>
            <a:endParaRPr lang="en-US" sz="1300" dirty="0"/>
          </a:p>
        </p:txBody>
      </p:sp>
      <p:sp>
        <p:nvSpPr>
          <p:cNvPr id="14" name="Chip Capacitor 8"/>
          <p:cNvSpPr/>
          <p:nvPr/>
        </p:nvSpPr>
        <p:spPr>
          <a:xfrm>
            <a:off x="9509760" y="2148840"/>
            <a:ext cx="1691640" cy="548640"/>
          </a:xfrm>
          <a:prstGeom prst="roundRect">
            <a:avLst>
              <a:gd name="adj" fmla="val 50000"/>
            </a:avLst>
          </a:prstGeom>
          <a:solidFill>
            <a:schemeClr val="bg2"/>
          </a:solidFill>
          <a:ln w="12700">
            <a:solidFill>
              <a:srgbClr val="DDE3EE"/>
            </a:solidFill>
            <a:prstDash val="solid"/>
          </a:ln>
        </p:spPr>
      </p:sp>
      <p:sp>
        <p:nvSpPr>
          <p:cNvPr id="15" name="Teks chip Capacitor 8"/>
          <p:cNvSpPr txBox="1"/>
          <p:nvPr/>
        </p:nvSpPr>
        <p:spPr>
          <a:xfrm>
            <a:off x="9509760" y="2148840"/>
            <a:ext cx="1691640" cy="548640"/>
          </a:xfrm>
          <a:prstGeom prst="rect">
            <a:avLst/>
          </a:prstGeom>
          <a:noFill/>
          <a:ln/>
        </p:spPr>
        <p:txBody>
          <a:bodyPr wrap="square" lIns="0" tIns="0" rIns="0" bIns="0" rtlCol="0" anchor="ctr"/>
          <a:lstStyle/>
          <a:p>
            <a:pPr algn="ctr" indent="0" marL="0">
              <a:buNone/>
            </a:pPr>
            <a:r>
              <a:rPr lang="en-US" sz="1300" b="1" dirty="0">
                <a:solidFill>
                  <a:schemeClr val="tx2"/>
                </a:solidFill>
              </a:rPr>
              <a:t>Capacitor 8</a:t>
            </a:r>
            <a:endParaRPr lang="en-US" sz="1300" dirty="0"/>
          </a:p>
        </p:txBody>
      </p:sp>
      <p:sp>
        <p:nvSpPr>
          <p:cNvPr id="16" name="Kartu Lapisan Logika"/>
          <p:cNvSpPr/>
          <p:nvPr/>
        </p:nvSpPr>
        <p:spPr>
          <a:xfrm>
            <a:off x="822960" y="3246120"/>
            <a:ext cx="10515600" cy="1280160"/>
          </a:xfrm>
          <a:prstGeom prst="roundRect">
            <a:avLst>
              <a:gd name="adj" fmla="val 10000"/>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17" name="Lingkaran Logika"/>
          <p:cNvSpPr/>
          <p:nvPr/>
        </p:nvSpPr>
        <p:spPr>
          <a:xfrm>
            <a:off x="1097280" y="3520440"/>
            <a:ext cx="731520" cy="731520"/>
          </a:xfrm>
          <a:prstGeom prst="ellipse">
            <a:avLst/>
          </a:prstGeom>
          <a:solidFill>
            <a:srgbClr val="0B1437"/>
          </a:solidFill>
          <a:ln/>
        </p:spPr>
      </p:sp>
      <p:pic>
        <p:nvPicPr>
          <p:cNvPr id="18" name="Ikon Logika" descr="Logika">    </p:cNvPr>
          <p:cNvPicPr>
            <a:picLocks noChangeAspect="1"/>
          </p:cNvPicPr>
          <p:nvPr/>
        </p:nvPicPr>
        <p:blipFill>
          <a:blip r:embed="rId2"/>
          <a:stretch>
            <a:fillRect/>
          </a:stretch>
        </p:blipFill>
        <p:spPr>
          <a:xfrm>
            <a:off x="1280160" y="3703320"/>
            <a:ext cx="365760" cy="365760"/>
          </a:xfrm>
          <a:prstGeom prst="rect">
            <a:avLst/>
          </a:prstGeom>
        </p:spPr>
      </p:pic>
      <p:sp>
        <p:nvSpPr>
          <p:cNvPr id="19" name="Lapisan Logika"/>
          <p:cNvSpPr txBox="1"/>
          <p:nvPr/>
        </p:nvSpPr>
        <p:spPr>
          <a:xfrm>
            <a:off x="2011680" y="3520440"/>
            <a:ext cx="1828800" cy="73152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Logika</a:t>
            </a:r>
            <a:endParaRPr lang="en-US" sz="2200" dirty="0"/>
          </a:p>
        </p:txBody>
      </p:sp>
      <p:sp>
        <p:nvSpPr>
          <p:cNvPr id="20" name="Chip Server Actions"/>
          <p:cNvSpPr/>
          <p:nvPr/>
        </p:nvSpPr>
        <p:spPr>
          <a:xfrm>
            <a:off x="4023360" y="3611880"/>
            <a:ext cx="1691640" cy="548640"/>
          </a:xfrm>
          <a:prstGeom prst="roundRect">
            <a:avLst>
              <a:gd name="adj" fmla="val 50000"/>
            </a:avLst>
          </a:prstGeom>
          <a:solidFill>
            <a:schemeClr val="bg2"/>
          </a:solidFill>
          <a:ln w="12700">
            <a:solidFill>
              <a:srgbClr val="DDE3EE"/>
            </a:solidFill>
            <a:prstDash val="solid"/>
          </a:ln>
        </p:spPr>
      </p:sp>
      <p:sp>
        <p:nvSpPr>
          <p:cNvPr id="21" name="Teks chip Server Actions"/>
          <p:cNvSpPr txBox="1"/>
          <p:nvPr/>
        </p:nvSpPr>
        <p:spPr>
          <a:xfrm>
            <a:off x="4023360" y="3611880"/>
            <a:ext cx="1691640" cy="548640"/>
          </a:xfrm>
          <a:prstGeom prst="rect">
            <a:avLst/>
          </a:prstGeom>
          <a:noFill/>
          <a:ln/>
        </p:spPr>
        <p:txBody>
          <a:bodyPr wrap="square" lIns="0" tIns="0" rIns="0" bIns="0" rtlCol="0" anchor="ctr"/>
          <a:lstStyle/>
          <a:p>
            <a:pPr algn="ctr" indent="0" marL="0">
              <a:buNone/>
            </a:pPr>
            <a:r>
              <a:rPr lang="en-US" sz="1300" b="1" dirty="0">
                <a:solidFill>
                  <a:schemeClr val="tx2"/>
                </a:solidFill>
              </a:rPr>
              <a:t>Server Actions</a:t>
            </a:r>
            <a:endParaRPr lang="en-US" sz="1300" dirty="0"/>
          </a:p>
        </p:txBody>
      </p:sp>
      <p:sp>
        <p:nvSpPr>
          <p:cNvPr id="22" name="Chip Validasi Zod"/>
          <p:cNvSpPr/>
          <p:nvPr/>
        </p:nvSpPr>
        <p:spPr>
          <a:xfrm>
            <a:off x="5852160" y="3611880"/>
            <a:ext cx="1691640" cy="548640"/>
          </a:xfrm>
          <a:prstGeom prst="roundRect">
            <a:avLst>
              <a:gd name="adj" fmla="val 50000"/>
            </a:avLst>
          </a:prstGeom>
          <a:solidFill>
            <a:schemeClr val="bg2"/>
          </a:solidFill>
          <a:ln w="12700">
            <a:solidFill>
              <a:srgbClr val="DDE3EE"/>
            </a:solidFill>
            <a:prstDash val="solid"/>
          </a:ln>
        </p:spPr>
      </p:sp>
      <p:sp>
        <p:nvSpPr>
          <p:cNvPr id="23" name="Teks chip Validasi Zod"/>
          <p:cNvSpPr txBox="1"/>
          <p:nvPr/>
        </p:nvSpPr>
        <p:spPr>
          <a:xfrm>
            <a:off x="5852160" y="3611880"/>
            <a:ext cx="1691640" cy="548640"/>
          </a:xfrm>
          <a:prstGeom prst="rect">
            <a:avLst/>
          </a:prstGeom>
          <a:noFill/>
          <a:ln/>
        </p:spPr>
        <p:txBody>
          <a:bodyPr wrap="square" lIns="0" tIns="0" rIns="0" bIns="0" rtlCol="0" anchor="ctr"/>
          <a:lstStyle/>
          <a:p>
            <a:pPr algn="ctr" indent="0" marL="0">
              <a:buNone/>
            </a:pPr>
            <a:r>
              <a:rPr lang="en-US" sz="1300" b="1" dirty="0">
                <a:solidFill>
                  <a:schemeClr val="tx2"/>
                </a:solidFill>
              </a:rPr>
              <a:t>Validasi Zod</a:t>
            </a:r>
            <a:endParaRPr lang="en-US" sz="1300" dirty="0"/>
          </a:p>
        </p:txBody>
      </p:sp>
      <p:sp>
        <p:nvSpPr>
          <p:cNvPr id="24" name="Chip NextAuth 5"/>
          <p:cNvSpPr/>
          <p:nvPr/>
        </p:nvSpPr>
        <p:spPr>
          <a:xfrm>
            <a:off x="7680960" y="3611880"/>
            <a:ext cx="1691640" cy="548640"/>
          </a:xfrm>
          <a:prstGeom prst="roundRect">
            <a:avLst>
              <a:gd name="adj" fmla="val 50000"/>
            </a:avLst>
          </a:prstGeom>
          <a:solidFill>
            <a:schemeClr val="bg2"/>
          </a:solidFill>
          <a:ln w="12700">
            <a:solidFill>
              <a:srgbClr val="DDE3EE"/>
            </a:solidFill>
            <a:prstDash val="solid"/>
          </a:ln>
        </p:spPr>
      </p:sp>
      <p:sp>
        <p:nvSpPr>
          <p:cNvPr id="25" name="Teks chip NextAuth 5"/>
          <p:cNvSpPr txBox="1"/>
          <p:nvPr/>
        </p:nvSpPr>
        <p:spPr>
          <a:xfrm>
            <a:off x="7680960" y="3611880"/>
            <a:ext cx="1691640" cy="548640"/>
          </a:xfrm>
          <a:prstGeom prst="rect">
            <a:avLst/>
          </a:prstGeom>
          <a:noFill/>
          <a:ln/>
        </p:spPr>
        <p:txBody>
          <a:bodyPr wrap="square" lIns="0" tIns="0" rIns="0" bIns="0" rtlCol="0" anchor="ctr"/>
          <a:lstStyle/>
          <a:p>
            <a:pPr algn="ctr" indent="0" marL="0">
              <a:buNone/>
            </a:pPr>
            <a:r>
              <a:rPr lang="en-US" sz="1300" b="1" dirty="0">
                <a:solidFill>
                  <a:schemeClr val="tx2"/>
                </a:solidFill>
              </a:rPr>
              <a:t>NextAuth 5</a:t>
            </a:r>
            <a:endParaRPr lang="en-US" sz="1300" dirty="0"/>
          </a:p>
        </p:txBody>
      </p:sp>
      <p:sp>
        <p:nvSpPr>
          <p:cNvPr id="26" name="Chip Prisma 6"/>
          <p:cNvSpPr/>
          <p:nvPr/>
        </p:nvSpPr>
        <p:spPr>
          <a:xfrm>
            <a:off x="9509760" y="3611880"/>
            <a:ext cx="1691640" cy="548640"/>
          </a:xfrm>
          <a:prstGeom prst="roundRect">
            <a:avLst>
              <a:gd name="adj" fmla="val 50000"/>
            </a:avLst>
          </a:prstGeom>
          <a:solidFill>
            <a:schemeClr val="bg2"/>
          </a:solidFill>
          <a:ln w="12700">
            <a:solidFill>
              <a:srgbClr val="DDE3EE"/>
            </a:solidFill>
            <a:prstDash val="solid"/>
          </a:ln>
        </p:spPr>
      </p:sp>
      <p:sp>
        <p:nvSpPr>
          <p:cNvPr id="27" name="Teks chip Prisma 6"/>
          <p:cNvSpPr txBox="1"/>
          <p:nvPr/>
        </p:nvSpPr>
        <p:spPr>
          <a:xfrm>
            <a:off x="9509760" y="3611880"/>
            <a:ext cx="1691640" cy="548640"/>
          </a:xfrm>
          <a:prstGeom prst="rect">
            <a:avLst/>
          </a:prstGeom>
          <a:noFill/>
          <a:ln/>
        </p:spPr>
        <p:txBody>
          <a:bodyPr wrap="square" lIns="0" tIns="0" rIns="0" bIns="0" rtlCol="0" anchor="ctr"/>
          <a:lstStyle/>
          <a:p>
            <a:pPr algn="ctr" indent="0" marL="0">
              <a:buNone/>
            </a:pPr>
            <a:r>
              <a:rPr lang="en-US" sz="1300" b="1" dirty="0">
                <a:solidFill>
                  <a:schemeClr val="tx2"/>
                </a:solidFill>
              </a:rPr>
              <a:t>Prisma 6</a:t>
            </a:r>
            <a:endParaRPr lang="en-US" sz="1300" dirty="0"/>
          </a:p>
        </p:txBody>
      </p:sp>
      <p:sp>
        <p:nvSpPr>
          <p:cNvPr id="28" name="Kartu Lapisan Data"/>
          <p:cNvSpPr/>
          <p:nvPr/>
        </p:nvSpPr>
        <p:spPr>
          <a:xfrm>
            <a:off x="822960" y="4709160"/>
            <a:ext cx="10515600" cy="1280160"/>
          </a:xfrm>
          <a:prstGeom prst="roundRect">
            <a:avLst>
              <a:gd name="adj" fmla="val 10000"/>
            </a:avLst>
          </a:prstGeom>
          <a:solidFill>
            <a:schemeClr val="bg1"/>
          </a:solidFill>
          <a:ln w="12700">
            <a:solidFill>
              <a:srgbClr val="DDE3EE"/>
            </a:solidFill>
            <a:prstDash val="solid"/>
          </a:ln>
          <a:effectLst>
            <a:outerShdw sx="100000" sy="100000" kx="0" ky="0" algn="bl" rotWithShape="0" blurRad="127000" dist="38100" dir="5400000">
              <a:srgbClr val="0B1437">
                <a:alpha val="10000"/>
              </a:srgbClr>
            </a:outerShdw>
          </a:effectLst>
        </p:spPr>
      </p:sp>
      <p:sp>
        <p:nvSpPr>
          <p:cNvPr id="29" name="Lingkaran Data"/>
          <p:cNvSpPr/>
          <p:nvPr/>
        </p:nvSpPr>
        <p:spPr>
          <a:xfrm>
            <a:off x="1097280" y="4983480"/>
            <a:ext cx="731520" cy="731520"/>
          </a:xfrm>
          <a:prstGeom prst="ellipse">
            <a:avLst/>
          </a:prstGeom>
          <a:solidFill>
            <a:srgbClr val="1E5FC7"/>
          </a:solidFill>
          <a:ln/>
        </p:spPr>
      </p:sp>
      <p:pic>
        <p:nvPicPr>
          <p:cNvPr id="30" name="Ikon Data" descr="Data">    </p:cNvPr>
          <p:cNvPicPr>
            <a:picLocks noChangeAspect="1"/>
          </p:cNvPicPr>
          <p:nvPr/>
        </p:nvPicPr>
        <p:blipFill>
          <a:blip r:embed="rId3"/>
          <a:stretch>
            <a:fillRect/>
          </a:stretch>
        </p:blipFill>
        <p:spPr>
          <a:xfrm>
            <a:off x="1280160" y="5166360"/>
            <a:ext cx="365760" cy="365760"/>
          </a:xfrm>
          <a:prstGeom prst="rect">
            <a:avLst/>
          </a:prstGeom>
        </p:spPr>
      </p:pic>
      <p:sp>
        <p:nvSpPr>
          <p:cNvPr id="31" name="Lapisan Data"/>
          <p:cNvSpPr txBox="1"/>
          <p:nvPr/>
        </p:nvSpPr>
        <p:spPr>
          <a:xfrm>
            <a:off x="2011680" y="4983480"/>
            <a:ext cx="1828800" cy="73152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Data</a:t>
            </a:r>
            <a:endParaRPr lang="en-US" sz="2200" dirty="0"/>
          </a:p>
        </p:txBody>
      </p:sp>
      <p:sp>
        <p:nvSpPr>
          <p:cNvPr id="32" name="Chip MariaDB / MySQL"/>
          <p:cNvSpPr/>
          <p:nvPr/>
        </p:nvSpPr>
        <p:spPr>
          <a:xfrm>
            <a:off x="4023360" y="5074920"/>
            <a:ext cx="1691640" cy="548640"/>
          </a:xfrm>
          <a:prstGeom prst="roundRect">
            <a:avLst>
              <a:gd name="adj" fmla="val 50000"/>
            </a:avLst>
          </a:prstGeom>
          <a:solidFill>
            <a:schemeClr val="bg2"/>
          </a:solidFill>
          <a:ln w="12700">
            <a:solidFill>
              <a:srgbClr val="DDE3EE"/>
            </a:solidFill>
            <a:prstDash val="solid"/>
          </a:ln>
        </p:spPr>
      </p:sp>
      <p:sp>
        <p:nvSpPr>
          <p:cNvPr id="33" name="Teks chip MariaDB / MySQL"/>
          <p:cNvSpPr txBox="1"/>
          <p:nvPr/>
        </p:nvSpPr>
        <p:spPr>
          <a:xfrm>
            <a:off x="4023360" y="5074920"/>
            <a:ext cx="1691640" cy="548640"/>
          </a:xfrm>
          <a:prstGeom prst="rect">
            <a:avLst/>
          </a:prstGeom>
          <a:noFill/>
          <a:ln/>
        </p:spPr>
        <p:txBody>
          <a:bodyPr wrap="square" lIns="0" tIns="0" rIns="0" bIns="0" rtlCol="0" anchor="ctr"/>
          <a:lstStyle/>
          <a:p>
            <a:pPr algn="ctr" indent="0" marL="0">
              <a:buNone/>
            </a:pPr>
            <a:r>
              <a:rPr lang="en-US" sz="1300" b="1" dirty="0">
                <a:solidFill>
                  <a:schemeClr val="tx2"/>
                </a:solidFill>
              </a:rPr>
              <a:t>MariaDB / MySQL</a:t>
            </a:r>
            <a:endParaRPr lang="en-US" sz="1300" dirty="0"/>
          </a:p>
        </p:txBody>
      </p:sp>
      <p:sp>
        <p:nvSpPr>
          <p:cNvPr id="34" name="Chip 40 tabel"/>
          <p:cNvSpPr/>
          <p:nvPr/>
        </p:nvSpPr>
        <p:spPr>
          <a:xfrm>
            <a:off x="5852160" y="5074920"/>
            <a:ext cx="1691640" cy="548640"/>
          </a:xfrm>
          <a:prstGeom prst="roundRect">
            <a:avLst>
              <a:gd name="adj" fmla="val 50000"/>
            </a:avLst>
          </a:prstGeom>
          <a:solidFill>
            <a:schemeClr val="bg2"/>
          </a:solidFill>
          <a:ln w="12700">
            <a:solidFill>
              <a:srgbClr val="DDE3EE"/>
            </a:solidFill>
            <a:prstDash val="solid"/>
          </a:ln>
        </p:spPr>
      </p:sp>
      <p:sp>
        <p:nvSpPr>
          <p:cNvPr id="35" name="Teks chip 40 tabel"/>
          <p:cNvSpPr txBox="1"/>
          <p:nvPr/>
        </p:nvSpPr>
        <p:spPr>
          <a:xfrm>
            <a:off x="5852160" y="5074920"/>
            <a:ext cx="1691640" cy="548640"/>
          </a:xfrm>
          <a:prstGeom prst="rect">
            <a:avLst/>
          </a:prstGeom>
          <a:noFill/>
          <a:ln/>
        </p:spPr>
        <p:txBody>
          <a:bodyPr wrap="square" lIns="0" tIns="0" rIns="0" bIns="0" rtlCol="0" anchor="ctr"/>
          <a:lstStyle/>
          <a:p>
            <a:pPr algn="ctr" indent="0" marL="0">
              <a:buNone/>
            </a:pPr>
            <a:r>
              <a:rPr lang="en-US" sz="1300" b="1" dirty="0">
                <a:solidFill>
                  <a:schemeClr val="tx2"/>
                </a:solidFill>
              </a:rPr>
              <a:t>40 tabel</a:t>
            </a:r>
            <a:endParaRPr lang="en-US" sz="1300" dirty="0"/>
          </a:p>
        </p:txBody>
      </p:sp>
      <p:sp>
        <p:nvSpPr>
          <p:cNvPr id="36" name="Chip Storage privat"/>
          <p:cNvSpPr/>
          <p:nvPr/>
        </p:nvSpPr>
        <p:spPr>
          <a:xfrm>
            <a:off x="7680960" y="5074920"/>
            <a:ext cx="1691640" cy="548640"/>
          </a:xfrm>
          <a:prstGeom prst="roundRect">
            <a:avLst>
              <a:gd name="adj" fmla="val 50000"/>
            </a:avLst>
          </a:prstGeom>
          <a:solidFill>
            <a:schemeClr val="bg2"/>
          </a:solidFill>
          <a:ln w="12700">
            <a:solidFill>
              <a:srgbClr val="DDE3EE"/>
            </a:solidFill>
            <a:prstDash val="solid"/>
          </a:ln>
        </p:spPr>
      </p:sp>
      <p:sp>
        <p:nvSpPr>
          <p:cNvPr id="37" name="Teks chip Storage privat"/>
          <p:cNvSpPr txBox="1"/>
          <p:nvPr/>
        </p:nvSpPr>
        <p:spPr>
          <a:xfrm>
            <a:off x="7680960" y="5074920"/>
            <a:ext cx="1691640" cy="548640"/>
          </a:xfrm>
          <a:prstGeom prst="rect">
            <a:avLst/>
          </a:prstGeom>
          <a:noFill/>
          <a:ln/>
        </p:spPr>
        <p:txBody>
          <a:bodyPr wrap="square" lIns="0" tIns="0" rIns="0" bIns="0" rtlCol="0" anchor="ctr"/>
          <a:lstStyle/>
          <a:p>
            <a:pPr algn="ctr" indent="0" marL="0">
              <a:buNone/>
            </a:pPr>
            <a:r>
              <a:rPr lang="en-US" sz="1300" b="1" dirty="0">
                <a:solidFill>
                  <a:schemeClr val="tx2"/>
                </a:solidFill>
              </a:rPr>
              <a:t>Storage privat</a:t>
            </a:r>
            <a:endParaRPr lang="en-US" sz="1300" dirty="0"/>
          </a:p>
        </p:txBody>
      </p:sp>
      <p:sp>
        <p:nvSpPr>
          <p:cNvPr id="38" name="Chip Audit log"/>
          <p:cNvSpPr/>
          <p:nvPr/>
        </p:nvSpPr>
        <p:spPr>
          <a:xfrm>
            <a:off x="9509760" y="5074920"/>
            <a:ext cx="1691640" cy="548640"/>
          </a:xfrm>
          <a:prstGeom prst="roundRect">
            <a:avLst>
              <a:gd name="adj" fmla="val 50000"/>
            </a:avLst>
          </a:prstGeom>
          <a:solidFill>
            <a:schemeClr val="bg2"/>
          </a:solidFill>
          <a:ln w="12700">
            <a:solidFill>
              <a:srgbClr val="DDE3EE"/>
            </a:solidFill>
            <a:prstDash val="solid"/>
          </a:ln>
        </p:spPr>
      </p:sp>
      <p:sp>
        <p:nvSpPr>
          <p:cNvPr id="39" name="Teks chip Audit log"/>
          <p:cNvSpPr txBox="1"/>
          <p:nvPr/>
        </p:nvSpPr>
        <p:spPr>
          <a:xfrm>
            <a:off x="9509760" y="5074920"/>
            <a:ext cx="1691640" cy="548640"/>
          </a:xfrm>
          <a:prstGeom prst="rect">
            <a:avLst/>
          </a:prstGeom>
          <a:noFill/>
          <a:ln/>
        </p:spPr>
        <p:txBody>
          <a:bodyPr wrap="square" lIns="0" tIns="0" rIns="0" bIns="0" rtlCol="0" anchor="ctr"/>
          <a:lstStyle/>
          <a:p>
            <a:pPr algn="ctr" indent="0" marL="0">
              <a:buNone/>
            </a:pPr>
            <a:r>
              <a:rPr lang="en-US" sz="1300" b="1" dirty="0">
                <a:solidFill>
                  <a:schemeClr val="tx2"/>
                </a:solidFill>
              </a:rPr>
              <a:t>Audit log</a:t>
            </a:r>
            <a:endParaRPr lang="en-US" sz="1300" dirty="0"/>
          </a:p>
        </p:txBody>
      </p:sp>
      <p:sp>
        <p:nvSpPr>
          <p:cNvPr id="25" name="Slide Number Placeholder 0"/>
          <p:cNvSpPr>
            <a:spLocks noGrp="1"/>
          </p:cNvSpPr>
          <p:nvPr>
            <p:ph type="sldNum" sz="quarter" idx="4294967295"/>
          </p:nvPr>
        </p:nvSpPr>
        <p:spPr>
          <a:xfrm>
            <a:off x="106984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Label bagian"/>
          <p:cNvSpPr txBox="1"/>
          <p:nvPr/>
        </p:nvSpPr>
        <p:spPr>
          <a:xfrm>
            <a:off x="822960" y="548640"/>
            <a:ext cx="7315200" cy="274320"/>
          </a:xfrm>
          <a:prstGeom prst="rect">
            <a:avLst/>
          </a:prstGeom>
          <a:noFill/>
          <a:ln/>
        </p:spPr>
        <p:txBody>
          <a:bodyPr wrap="square" lIns="0" tIns="0" rIns="0" bIns="0" rtlCol="0" anchor="ctr"/>
          <a:lstStyle/>
          <a:p>
            <a:pPr indent="0" marL="0">
              <a:buNone/>
            </a:pPr>
            <a:r>
              <a:rPr lang="en-US" sz="1200" b="1" spc="500" kern="0" dirty="0">
                <a:solidFill>
                  <a:srgbClr val="E3C77A"/>
                </a:solidFill>
              </a:rPr>
              <a:t>RINGKASAN</a:t>
            </a:r>
            <a:endParaRPr lang="en-US" sz="1200" dirty="0"/>
          </a:p>
        </p:txBody>
      </p:sp>
      <p:sp>
        <p:nvSpPr>
          <p:cNvPr id="3" name="Text 0"/>
          <p:cNvSpPr/>
          <p:nvPr>
            <p:ph idx="100" type="title" hasCustomPrompt="1"/>
          </p:nvPr>
        </p:nvSpPr>
        <p:spPr>
          <a:xfrm>
            <a:off x="822960" y="868680"/>
            <a:ext cx="10515600" cy="822960"/>
          </a:xfrm>
          <a:prstGeom prst="rect">
            <a:avLst/>
          </a:prstGeom>
          <a:noFill/>
          <a:ln/>
        </p:spPr>
        <p:txBody>
          <a:bodyPr wrap="square" lIns="0" tIns="0" rIns="0" bIns="0" rtlCol="0" anchor="ctr"/>
          <a:lstStyle/>
          <a:p>
            <a:pPr algn="l" indent="0" marL="0">
              <a:buNone/>
            </a:pPr>
            <a:r>
              <a:rPr lang="en-US" sz="3600" b="1" dirty="0">
                <a:solidFill>
                  <a:schemeClr val="bg1"/>
                </a:solidFill>
              </a:rPr>
              <a:t>Siap dipakai dan terus dikembangkan</a:t>
            </a:r>
            <a:endParaRPr lang="en-US" sz="3600" dirty="0"/>
          </a:p>
        </p:txBody>
      </p:sp>
      <p:sp>
        <p:nvSpPr>
          <p:cNvPr id="4" name="Kartu angka halaman"/>
          <p:cNvSpPr/>
          <p:nvPr/>
        </p:nvSpPr>
        <p:spPr>
          <a:xfrm>
            <a:off x="822960" y="2011680"/>
            <a:ext cx="2514600" cy="1737360"/>
          </a:xfrm>
          <a:prstGeom prst="roundRect">
            <a:avLst>
              <a:gd name="adj" fmla="val 7368"/>
            </a:avLst>
          </a:prstGeom>
          <a:solidFill>
            <a:srgbClr val="16224F"/>
          </a:solidFill>
          <a:ln w="12700">
            <a:solidFill>
              <a:srgbClr val="2A3A78"/>
            </a:solidFill>
            <a:prstDash val="solid"/>
          </a:ln>
        </p:spPr>
      </p:sp>
      <p:sp>
        <p:nvSpPr>
          <p:cNvPr id="5" name="Angka halaman"/>
          <p:cNvSpPr txBox="1"/>
          <p:nvPr/>
        </p:nvSpPr>
        <p:spPr>
          <a:xfrm>
            <a:off x="1051560" y="2103120"/>
            <a:ext cx="2103120" cy="914400"/>
          </a:xfrm>
          <a:prstGeom prst="rect">
            <a:avLst/>
          </a:prstGeom>
          <a:noFill/>
          <a:ln/>
        </p:spPr>
        <p:txBody>
          <a:bodyPr wrap="square" lIns="0" tIns="0" rIns="0" bIns="0" rtlCol="0" anchor="ctr"/>
          <a:lstStyle/>
          <a:p>
            <a:pPr indent="0" marL="0">
              <a:buNone/>
            </a:pPr>
            <a:r>
              <a:rPr lang="en-US" sz="5400" b="1" dirty="0">
                <a:solidFill>
                  <a:srgbClr val="E3C77A"/>
                </a:solidFill>
                <a:latin typeface="Cambria" pitchFamily="34" charset="0"/>
                <a:ea typeface="Cambria" pitchFamily="34" charset="-122"/>
                <a:cs typeface="Cambria" pitchFamily="34" charset="-120"/>
              </a:rPr>
              <a:t>79</a:t>
            </a:r>
            <a:endParaRPr lang="en-US" sz="5400" dirty="0"/>
          </a:p>
        </p:txBody>
      </p:sp>
      <p:sp>
        <p:nvSpPr>
          <p:cNvPr id="6" name="Label halaman"/>
          <p:cNvSpPr txBox="1"/>
          <p:nvPr/>
        </p:nvSpPr>
        <p:spPr>
          <a:xfrm>
            <a:off x="1051560" y="3063240"/>
            <a:ext cx="2103120" cy="457200"/>
          </a:xfrm>
          <a:prstGeom prst="rect">
            <a:avLst/>
          </a:prstGeom>
          <a:noFill/>
          <a:ln/>
        </p:spPr>
        <p:txBody>
          <a:bodyPr wrap="square" lIns="0" tIns="0" rIns="0" bIns="0" rtlCol="0" anchor="t"/>
          <a:lstStyle/>
          <a:p>
            <a:pPr indent="0" marL="0">
              <a:buNone/>
            </a:pPr>
            <a:r>
              <a:rPr lang="en-US" sz="1500" dirty="0">
                <a:solidFill>
                  <a:srgbClr val="CADCFC"/>
                </a:solidFill>
              </a:rPr>
              <a:t>halaman</a:t>
            </a:r>
            <a:endParaRPr lang="en-US" sz="1500" dirty="0"/>
          </a:p>
        </p:txBody>
      </p:sp>
      <p:sp>
        <p:nvSpPr>
          <p:cNvPr id="7" name="Kartu angka tabel database"/>
          <p:cNvSpPr/>
          <p:nvPr/>
        </p:nvSpPr>
        <p:spPr>
          <a:xfrm>
            <a:off x="3502152" y="2011680"/>
            <a:ext cx="2514600" cy="1737360"/>
          </a:xfrm>
          <a:prstGeom prst="roundRect">
            <a:avLst>
              <a:gd name="adj" fmla="val 7368"/>
            </a:avLst>
          </a:prstGeom>
          <a:solidFill>
            <a:srgbClr val="16224F"/>
          </a:solidFill>
          <a:ln w="12700">
            <a:solidFill>
              <a:srgbClr val="2A3A78"/>
            </a:solidFill>
            <a:prstDash val="solid"/>
          </a:ln>
        </p:spPr>
      </p:sp>
      <p:sp>
        <p:nvSpPr>
          <p:cNvPr id="8" name="Angka tabel database"/>
          <p:cNvSpPr txBox="1"/>
          <p:nvPr/>
        </p:nvSpPr>
        <p:spPr>
          <a:xfrm>
            <a:off x="3730752" y="2103120"/>
            <a:ext cx="2103120" cy="914400"/>
          </a:xfrm>
          <a:prstGeom prst="rect">
            <a:avLst/>
          </a:prstGeom>
          <a:noFill/>
          <a:ln/>
        </p:spPr>
        <p:txBody>
          <a:bodyPr wrap="square" lIns="0" tIns="0" rIns="0" bIns="0" rtlCol="0" anchor="ctr"/>
          <a:lstStyle/>
          <a:p>
            <a:pPr indent="0" marL="0">
              <a:buNone/>
            </a:pPr>
            <a:r>
              <a:rPr lang="en-US" sz="5400" b="1" dirty="0">
                <a:solidFill>
                  <a:srgbClr val="E3C77A"/>
                </a:solidFill>
                <a:latin typeface="Cambria" pitchFamily="34" charset="0"/>
                <a:ea typeface="Cambria" pitchFamily="34" charset="-122"/>
                <a:cs typeface="Cambria" pitchFamily="34" charset="-120"/>
              </a:rPr>
              <a:t>40</a:t>
            </a:r>
            <a:endParaRPr lang="en-US" sz="5400" dirty="0"/>
          </a:p>
        </p:txBody>
      </p:sp>
      <p:sp>
        <p:nvSpPr>
          <p:cNvPr id="9" name="Label tabel database"/>
          <p:cNvSpPr txBox="1"/>
          <p:nvPr/>
        </p:nvSpPr>
        <p:spPr>
          <a:xfrm>
            <a:off x="3730752" y="3063240"/>
            <a:ext cx="2103120" cy="457200"/>
          </a:xfrm>
          <a:prstGeom prst="rect">
            <a:avLst/>
          </a:prstGeom>
          <a:noFill/>
          <a:ln/>
        </p:spPr>
        <p:txBody>
          <a:bodyPr wrap="square" lIns="0" tIns="0" rIns="0" bIns="0" rtlCol="0" anchor="t"/>
          <a:lstStyle/>
          <a:p>
            <a:pPr indent="0" marL="0">
              <a:buNone/>
            </a:pPr>
            <a:r>
              <a:rPr lang="en-US" sz="1500" dirty="0">
                <a:solidFill>
                  <a:srgbClr val="CADCFC"/>
                </a:solidFill>
              </a:rPr>
              <a:t>tabel database</a:t>
            </a:r>
            <a:endParaRPr lang="en-US" sz="1500" dirty="0"/>
          </a:p>
        </p:txBody>
      </p:sp>
      <p:sp>
        <p:nvSpPr>
          <p:cNvPr id="10" name="Kartu angka tes otomatis"/>
          <p:cNvSpPr/>
          <p:nvPr/>
        </p:nvSpPr>
        <p:spPr>
          <a:xfrm>
            <a:off x="6181344" y="2011680"/>
            <a:ext cx="2514600" cy="1737360"/>
          </a:xfrm>
          <a:prstGeom prst="roundRect">
            <a:avLst>
              <a:gd name="adj" fmla="val 7368"/>
            </a:avLst>
          </a:prstGeom>
          <a:solidFill>
            <a:srgbClr val="16224F"/>
          </a:solidFill>
          <a:ln w="12700">
            <a:solidFill>
              <a:srgbClr val="2A3A78"/>
            </a:solidFill>
            <a:prstDash val="solid"/>
          </a:ln>
        </p:spPr>
      </p:sp>
      <p:sp>
        <p:nvSpPr>
          <p:cNvPr id="11" name="Angka tes otomatis"/>
          <p:cNvSpPr txBox="1"/>
          <p:nvPr/>
        </p:nvSpPr>
        <p:spPr>
          <a:xfrm>
            <a:off x="6409944" y="2103120"/>
            <a:ext cx="2103120" cy="914400"/>
          </a:xfrm>
          <a:prstGeom prst="rect">
            <a:avLst/>
          </a:prstGeom>
          <a:noFill/>
          <a:ln/>
        </p:spPr>
        <p:txBody>
          <a:bodyPr wrap="square" lIns="0" tIns="0" rIns="0" bIns="0" rtlCol="0" anchor="ctr"/>
          <a:lstStyle/>
          <a:p>
            <a:pPr indent="0" marL="0">
              <a:buNone/>
            </a:pPr>
            <a:r>
              <a:rPr lang="en-US" sz="5400" b="1" dirty="0">
                <a:solidFill>
                  <a:srgbClr val="E3C77A"/>
                </a:solidFill>
                <a:latin typeface="Cambria" pitchFamily="34" charset="0"/>
                <a:ea typeface="Cambria" pitchFamily="34" charset="-122"/>
                <a:cs typeface="Cambria" pitchFamily="34" charset="-120"/>
              </a:rPr>
              <a:t>61</a:t>
            </a:r>
            <a:endParaRPr lang="en-US" sz="5400" dirty="0"/>
          </a:p>
        </p:txBody>
      </p:sp>
      <p:sp>
        <p:nvSpPr>
          <p:cNvPr id="12" name="Label tes otomatis"/>
          <p:cNvSpPr txBox="1"/>
          <p:nvPr/>
        </p:nvSpPr>
        <p:spPr>
          <a:xfrm>
            <a:off x="6409944" y="3063240"/>
            <a:ext cx="2103120" cy="457200"/>
          </a:xfrm>
          <a:prstGeom prst="rect">
            <a:avLst/>
          </a:prstGeom>
          <a:noFill/>
          <a:ln/>
        </p:spPr>
        <p:txBody>
          <a:bodyPr wrap="square" lIns="0" tIns="0" rIns="0" bIns="0" rtlCol="0" anchor="t"/>
          <a:lstStyle/>
          <a:p>
            <a:pPr indent="0" marL="0">
              <a:buNone/>
            </a:pPr>
            <a:r>
              <a:rPr lang="en-US" sz="1500" dirty="0">
                <a:solidFill>
                  <a:srgbClr val="CADCFC"/>
                </a:solidFill>
              </a:rPr>
              <a:t>tes otomatis</a:t>
            </a:r>
            <a:endParaRPr lang="en-US" sz="1500" dirty="0"/>
          </a:p>
        </p:txBody>
      </p:sp>
      <p:sp>
        <p:nvSpPr>
          <p:cNvPr id="13" name="Kartu angka tahap pengembangan"/>
          <p:cNvSpPr/>
          <p:nvPr/>
        </p:nvSpPr>
        <p:spPr>
          <a:xfrm>
            <a:off x="8860536" y="2011680"/>
            <a:ext cx="2514600" cy="1737360"/>
          </a:xfrm>
          <a:prstGeom prst="roundRect">
            <a:avLst>
              <a:gd name="adj" fmla="val 7368"/>
            </a:avLst>
          </a:prstGeom>
          <a:solidFill>
            <a:srgbClr val="16224F"/>
          </a:solidFill>
          <a:ln w="12700">
            <a:solidFill>
              <a:srgbClr val="2A3A78"/>
            </a:solidFill>
            <a:prstDash val="solid"/>
          </a:ln>
        </p:spPr>
      </p:sp>
      <p:sp>
        <p:nvSpPr>
          <p:cNvPr id="14" name="Angka tahap pengembangan"/>
          <p:cNvSpPr txBox="1"/>
          <p:nvPr/>
        </p:nvSpPr>
        <p:spPr>
          <a:xfrm>
            <a:off x="9089136" y="2103120"/>
            <a:ext cx="2103120" cy="914400"/>
          </a:xfrm>
          <a:prstGeom prst="rect">
            <a:avLst/>
          </a:prstGeom>
          <a:noFill/>
          <a:ln/>
        </p:spPr>
        <p:txBody>
          <a:bodyPr wrap="square" lIns="0" tIns="0" rIns="0" bIns="0" rtlCol="0" anchor="ctr"/>
          <a:lstStyle/>
          <a:p>
            <a:pPr indent="0" marL="0">
              <a:buNone/>
            </a:pPr>
            <a:r>
              <a:rPr lang="en-US" sz="5400" b="1" dirty="0">
                <a:solidFill>
                  <a:srgbClr val="E3C77A"/>
                </a:solidFill>
                <a:latin typeface="Cambria" pitchFamily="34" charset="0"/>
                <a:ea typeface="Cambria" pitchFamily="34" charset="-122"/>
                <a:cs typeface="Cambria" pitchFamily="34" charset="-120"/>
              </a:rPr>
              <a:t>14</a:t>
            </a:r>
            <a:endParaRPr lang="en-US" sz="5400" dirty="0"/>
          </a:p>
        </p:txBody>
      </p:sp>
      <p:sp>
        <p:nvSpPr>
          <p:cNvPr id="15" name="Label tahap pengembangan"/>
          <p:cNvSpPr txBox="1"/>
          <p:nvPr/>
        </p:nvSpPr>
        <p:spPr>
          <a:xfrm>
            <a:off x="9089136" y="3063240"/>
            <a:ext cx="2103120" cy="457200"/>
          </a:xfrm>
          <a:prstGeom prst="rect">
            <a:avLst/>
          </a:prstGeom>
          <a:noFill/>
          <a:ln/>
        </p:spPr>
        <p:txBody>
          <a:bodyPr wrap="square" lIns="0" tIns="0" rIns="0" bIns="0" rtlCol="0" anchor="t"/>
          <a:lstStyle/>
          <a:p>
            <a:pPr indent="0" marL="0">
              <a:buNone/>
            </a:pPr>
            <a:r>
              <a:rPr lang="en-US" sz="1500" dirty="0">
                <a:solidFill>
                  <a:srgbClr val="CADCFC"/>
                </a:solidFill>
              </a:rPr>
              <a:t>tahap pengembangan</a:t>
            </a:r>
            <a:endParaRPr lang="en-US" sz="1500" dirty="0"/>
          </a:p>
        </p:txBody>
      </p:sp>
      <p:sp>
        <p:nvSpPr>
          <p:cNvPr id="16" name="Judul rencana"/>
          <p:cNvSpPr txBox="1"/>
          <p:nvPr/>
        </p:nvSpPr>
        <p:spPr>
          <a:xfrm>
            <a:off x="822960" y="4114800"/>
            <a:ext cx="548640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Rencana berikutnya</a:t>
            </a:r>
            <a:endParaRPr lang="en-US" sz="2000" dirty="0"/>
          </a:p>
        </p:txBody>
      </p:sp>
      <p:sp>
        <p:nvSpPr>
          <p:cNvPr id="17" name="Daftar rencana"/>
          <p:cNvSpPr txBox="1"/>
          <p:nvPr/>
        </p:nvSpPr>
        <p:spPr>
          <a:xfrm>
            <a:off x="822960" y="4617720"/>
            <a:ext cx="6858000" cy="173736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rgbClr val="E2E8F0"/>
                </a:solidFill>
              </a:rPr>
              <a:t>Ekspor laporan ke CSV dan PDF</a:t>
            </a:r>
            <a:endParaRPr lang="en-US" sz="1400" dirty="0"/>
          </a:p>
          <a:p>
            <a:pPr marL="203200" indent="-203200">
              <a:spcAft>
                <a:spcPts val="500"/>
              </a:spcAft>
              <a:buSzPct val="100000"/>
              <a:buChar char="•"/>
            </a:pPr>
            <a:r>
              <a:rPr lang="en-US" sz="1400" dirty="0">
                <a:solidFill>
                  <a:srgbClr val="E2E8F0"/>
                </a:solidFill>
              </a:rPr>
              <a:t>Login Google langsung di dalam aplikasi</a:t>
            </a:r>
            <a:endParaRPr lang="en-US" sz="1400" dirty="0"/>
          </a:p>
          <a:p>
            <a:pPr marL="203200" indent="-203200">
              <a:spcAft>
                <a:spcPts val="500"/>
              </a:spcAft>
              <a:buSzPct val="100000"/>
              <a:buChar char="•"/>
            </a:pPr>
            <a:r>
              <a:rPr lang="en-US" sz="1400" dirty="0">
                <a:solidFill>
                  <a:srgbClr val="E2E8F0"/>
                </a:solidFill>
              </a:rPr>
              <a:t>Tes otomatis untuk Server Actions</a:t>
            </a:r>
            <a:endParaRPr lang="en-US" sz="1400" dirty="0"/>
          </a:p>
          <a:p>
            <a:pPr marL="203200" indent="-203200">
              <a:spcAft>
                <a:spcPts val="500"/>
              </a:spcAft>
              <a:buSzPct val="100000"/>
              <a:buChar char="•"/>
            </a:pPr>
            <a:r>
              <a:rPr lang="en-US" sz="1400" dirty="0">
                <a:solidFill>
                  <a:srgbClr val="E2E8F0"/>
                </a:solidFill>
              </a:rPr>
              <a:t>Penjadwalan pengingat lewat worker terpisah</a:t>
            </a:r>
            <a:endParaRPr lang="en-US" sz="1400" dirty="0"/>
          </a:p>
          <a:p>
            <a:pPr marL="203200" indent="-203200">
              <a:spcAft>
                <a:spcPts val="500"/>
              </a:spcAft>
              <a:buSzPct val="100000"/>
              <a:buChar char="•"/>
            </a:pPr>
            <a:r>
              <a:rPr lang="en-US" sz="1400" dirty="0">
                <a:solidFill>
                  <a:srgbClr val="E2E8F0"/>
                </a:solidFill>
              </a:rPr>
              <a:t>Peninjauan hukum dan enkripsi data sensitif</a:t>
            </a:r>
            <a:endParaRPr lang="en-US" sz="1400" dirty="0"/>
          </a:p>
        </p:txBody>
      </p:sp>
      <p:sp>
        <p:nvSpPr>
          <p:cNvPr id="18" name="Terima kasih"/>
          <p:cNvSpPr txBox="1"/>
          <p:nvPr/>
        </p:nvSpPr>
        <p:spPr>
          <a:xfrm>
            <a:off x="7863840" y="4937760"/>
            <a:ext cx="3474720" cy="914400"/>
          </a:xfrm>
          <a:prstGeom prst="rect">
            <a:avLst/>
          </a:prstGeom>
          <a:noFill/>
          <a:ln/>
        </p:spPr>
        <p:txBody>
          <a:bodyPr wrap="square" lIns="0" tIns="0" rIns="0" bIns="0" rtlCol="0" anchor="ctr"/>
          <a:lstStyle/>
          <a:p>
            <a:pPr algn="r" indent="0" marL="0">
              <a:buNone/>
            </a:pPr>
            <a:r>
              <a:rPr lang="en-US" sz="3600" b="1" dirty="0">
                <a:solidFill>
                  <a:srgbClr val="FFFFFF"/>
                </a:solidFill>
                <a:latin typeface="Cambria" pitchFamily="34" charset="0"/>
                <a:ea typeface="Cambria" pitchFamily="34" charset="-122"/>
                <a:cs typeface="Cambria" pitchFamily="34" charset="-120"/>
              </a:rPr>
              <a:t>Terima kasih</a:t>
            </a:r>
            <a:endParaRPr lang="en-US" sz="3600" dirty="0"/>
          </a:p>
        </p:txBody>
      </p:sp>
    </p:spTree>
  </p:cSld>
  <p:clrMapOvr>
    <a:masterClrMapping/>
  </p:clrMapOvr>
</p:sld>
</file>

<file path=ppt/theme/theme1.xml><?xml version="1.0" encoding="utf-8"?>
<a:theme xmlns:a="http://schemas.openxmlformats.org/drawingml/2006/main" name="BuyaLater Elegan">
  <a:themeElements>
    <a:clrScheme name="BuyaLater Elegan">
      <a:dk1>
        <a:srgbClr val="111827"/>
      </a:dk1>
      <a:lt1>
        <a:srgbClr val="FFFFFF"/>
      </a:lt1>
      <a:dk2>
        <a:srgbClr val="0B1437"/>
      </a:dk2>
      <a:lt2>
        <a:srgbClr val="F3F5FA"/>
      </a:lt2>
      <a:accent1>
        <a:srgbClr val="8F6F26"/>
      </a:accent1>
      <a:accent2>
        <a:srgbClr val="1E5FC7"/>
      </a:accent2>
      <a:accent3>
        <a:srgbClr val="0F766E"/>
      </a:accent3>
      <a:accent4>
        <a:srgbClr val="B45309"/>
      </a:accent4>
      <a:accent5>
        <a:srgbClr val="1A2A6C"/>
      </a:accent5>
      <a:accent6>
        <a:srgbClr val="64748B"/>
      </a:accent6>
      <a:hlink>
        <a:srgbClr val="1E5FC7"/>
      </a:hlink>
      <a:folHlink>
        <a:srgbClr val="64748B"/>
      </a:folHlink>
    </a:clrScheme>
    <a:fontScheme name="BuyaLater Eleg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BuyaLater - Presentasi Aplikasi</dc:title>
  <dc:subject>PptxGenJS Presentation</dc:subject>
  <dc:creator>BuyaLater</dc:creator>
  <cp:lastModifiedBy>BuyaLater</cp:lastModifiedBy>
  <cp:revision>1</cp:revision>
  <dcterms:created xsi:type="dcterms:W3CDTF">2026-10-10T15:51:46Z</dcterms:created>
  <dcterms:modified xsi:type="dcterms:W3CDTF">2026-10-10T15:51:46Z</dcterms:modified>
</cp:coreProperties>
</file>